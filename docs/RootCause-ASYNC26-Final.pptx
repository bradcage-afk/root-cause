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9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5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1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 101" id="101"/>
          <p:cNvSpPr txBox="true"/>
          <p:nvPr/>
        </p:nvSpPr>
        <p:spPr>
          <a:xfrm>
            <a:off x="777240" y="1810512"/>
            <a:ext cx="10378440" cy="292608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buNone/>
            </a:pPr>
            <a:r>
              <a:rPr lang="en-US" b="true" sz="1700" spc="26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TRACK 1  ·  SOVEREIGN AI</a:t>
            </a:r>
          </a:p>
        </p:txBody>
      </p:sp>
      <p:sp>
        <p:nvSpPr>
          <p:cNvPr name="Text 102" id="102"/>
          <p:cNvSpPr txBox="true"/>
          <p:nvPr/>
        </p:nvSpPr>
        <p:spPr>
          <a:xfrm>
            <a:off x="777240" y="2212848"/>
            <a:ext cx="10378440" cy="149961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1424"/>
              </a:lnSpc>
              <a:spcBef>
                <a:spcPts val="0"/>
              </a:spcBef>
              <a:buNone/>
            </a:pPr>
            <a:r>
              <a:rPr lang="en-US" b="true" sz="11200" spc="1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ROOT CAUSE</a:t>
            </a:r>
          </a:p>
        </p:txBody>
      </p:sp>
      <p:sp>
        <p:nvSpPr>
          <p:cNvPr name="Text 103" id="103"/>
          <p:cNvSpPr txBox="true"/>
          <p:nvPr/>
        </p:nvSpPr>
        <p:spPr>
          <a:xfrm>
            <a:off x="777240" y="3895344"/>
            <a:ext cx="10378440" cy="53035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3894"/>
              </a:lnSpc>
              <a:spcBef>
                <a:spcPts val="0"/>
              </a:spcBef>
              <a:buNone/>
            </a:pPr>
            <a:r>
              <a:rPr lang="en-US" b="true" sz="33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Sovereign causal memory for operations</a:t>
            </a:r>
          </a:p>
        </p:txBody>
      </p:sp>
      <p:sp>
        <p:nvSpPr>
          <p:cNvPr name="Text 104" id="104"/>
          <p:cNvSpPr txBox="true"/>
          <p:nvPr/>
        </p:nvSpPr>
        <p:spPr>
          <a:xfrm>
            <a:off x="777240" y="4700016"/>
            <a:ext cx="10012680" cy="233172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buNone/>
            </a:pPr>
            <a:r>
              <a:rPr lang="en-US" sz="2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Runs entirely on hardware the organisation already owns — local open-weight models, no internet, no API keys. It finds the failures a team keeps re-fixing, builds an evidence-backed hypothesis for why, warns before the same change ships again, and governs every action it takes.</a:t>
            </a:r>
          </a:p>
        </p:txBody>
      </p:sp>
      <p:sp>
        <p:nvSpPr>
          <p:cNvPr name="Card 105" id="105"/>
          <p:cNvSpPr/>
          <p:nvPr/>
        </p:nvSpPr>
        <p:spPr>
          <a:xfrm>
            <a:off x="777240" y="7662672"/>
            <a:ext cx="3252216" cy="1097280"/>
          </a:xfrm>
          <a:prstGeom prst="roundRect">
            <a:avLst>
              <a:gd name="adj" fmla="val 11666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06" id="106"/>
          <p:cNvSpPr txBox="true"/>
          <p:nvPr/>
        </p:nvSpPr>
        <p:spPr>
          <a:xfrm>
            <a:off x="1088136" y="7882128"/>
            <a:ext cx="2630424" cy="73152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buNone/>
            </a:pPr>
            <a:r>
              <a:rPr lang="en-US" b="true" sz="2500">
                <a:solidFill>
                  <a:srgbClr val="34D399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 bytes</a:t>
            </a:r>
          </a:p>
          <a:p>
            <a:pPr algn="l">
              <a:lnSpc>
                <a:spcPts val="1652"/>
              </a:lnSpc>
              <a:spcBef>
                <a:spcPts val="800"/>
              </a:spcBef>
              <a:buNone/>
            </a:pPr>
            <a:r>
              <a:rPr lang="en-US" sz="1400">
                <a:solidFill>
                  <a:srgbClr val="93A4BF"/>
                </a:solidFill>
                <a:latin typeface="Arimo"/>
                <a:ea typeface="Arimo"/>
                <a:cs typeface="Arimo"/>
                <a:sym typeface="Arimo"/>
              </a:rPr>
              <a:t xml:space="preserve">measured egress, live on stage</a:t>
            </a:r>
          </a:p>
        </p:txBody>
      </p:sp>
      <p:sp>
        <p:nvSpPr>
          <p:cNvPr name="Card 107" id="107"/>
          <p:cNvSpPr/>
          <p:nvPr/>
        </p:nvSpPr>
        <p:spPr>
          <a:xfrm>
            <a:off x="4340352" y="7662672"/>
            <a:ext cx="3252216" cy="1097280"/>
          </a:xfrm>
          <a:prstGeom prst="roundRect">
            <a:avLst>
              <a:gd name="adj" fmla="val 11666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08" id="108"/>
          <p:cNvSpPr txBox="true"/>
          <p:nvPr/>
        </p:nvSpPr>
        <p:spPr>
          <a:xfrm>
            <a:off x="4651248" y="7882128"/>
            <a:ext cx="2630424" cy="73152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buNone/>
            </a:pPr>
            <a:r>
              <a:rPr lang="en-US" b="true" sz="25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100% local</a:t>
            </a:r>
          </a:p>
          <a:p>
            <a:pPr algn="l">
              <a:lnSpc>
                <a:spcPts val="1652"/>
              </a:lnSpc>
              <a:spcBef>
                <a:spcPts val="800"/>
              </a:spcBef>
              <a:buNone/>
            </a:pPr>
            <a:r>
              <a:rPr lang="en-US" sz="1400">
                <a:solidFill>
                  <a:srgbClr val="93A4BF"/>
                </a:solidFill>
                <a:latin typeface="Arimo"/>
                <a:ea typeface="Arimo"/>
                <a:cs typeface="Arimo"/>
                <a:sym typeface="Arimo"/>
              </a:rPr>
              <a:t xml:space="preserve">inference, memory and retrieval</a:t>
            </a:r>
          </a:p>
        </p:txBody>
      </p:sp>
      <p:sp>
        <p:nvSpPr>
          <p:cNvPr name="Card 109" id="109"/>
          <p:cNvSpPr/>
          <p:nvPr/>
        </p:nvSpPr>
        <p:spPr>
          <a:xfrm>
            <a:off x="7903464" y="7662672"/>
            <a:ext cx="3252216" cy="1097280"/>
          </a:xfrm>
          <a:prstGeom prst="roundRect">
            <a:avLst>
              <a:gd name="adj" fmla="val 11666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10" id="110"/>
          <p:cNvSpPr txBox="true"/>
          <p:nvPr/>
        </p:nvSpPr>
        <p:spPr>
          <a:xfrm>
            <a:off x="8214360" y="7882128"/>
            <a:ext cx="2630424" cy="73152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buNone/>
            </a:pPr>
            <a:r>
              <a:rPr lang="en-US" b="true" sz="25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No A100</a:t>
            </a:r>
          </a:p>
          <a:p>
            <a:pPr algn="l">
              <a:lnSpc>
                <a:spcPts val="1652"/>
              </a:lnSpc>
              <a:spcBef>
                <a:spcPts val="800"/>
              </a:spcBef>
              <a:buNone/>
            </a:pPr>
            <a:r>
              <a:rPr lang="en-US" sz="1400">
                <a:solidFill>
                  <a:srgbClr val="93A4BF"/>
                </a:solidFill>
                <a:latin typeface="Arimo"/>
                <a:ea typeface="Arimo"/>
                <a:cs typeface="Arimo"/>
                <a:sym typeface="Arimo"/>
              </a:rPr>
              <a:t xml:space="preserve">one RTX 3050 laptop</a:t>
            </a:r>
          </a:p>
        </p:txBody>
      </p:sp>
      <p:sp>
        <p:nvSpPr>
          <p:cNvPr name="Text 111" id="111"/>
          <p:cNvSpPr txBox="true"/>
          <p:nvPr/>
        </p:nvSpPr>
        <p:spPr>
          <a:xfrm>
            <a:off x="777240" y="8887968"/>
            <a:ext cx="10378440" cy="27432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buNone/>
            </a:pPr>
            <a:r>
              <a:rPr lang="en-US" b="true" sz="15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github.com/BradCage-afk/root-cause</a:t>
            </a:r>
            <a:r>
              <a:rPr lang="en-US" sz="1500">
                <a:solidFill>
                  <a:srgbClr val="93A4BF"/>
                </a:solidFill>
                <a:latin typeface="Arimo"/>
                <a:ea typeface="Arimo"/>
                <a:cs typeface="Arimo"/>
                <a:sym typeface="Arimo"/>
              </a:rPr>
              <a:t xml:space="preserve">   ·   working prototype, 13 automated tests</a:t>
            </a:r>
          </a:p>
        </p:txBody>
      </p:sp>
      <p:sp>
        <p:nvSpPr>
          <p:cNvPr name="Card 112" id="112"/>
          <p:cNvSpPr/>
          <p:nvPr/>
        </p:nvSpPr>
        <p:spPr>
          <a:xfrm>
            <a:off x="11475720" y="1810512"/>
            <a:ext cx="6035040" cy="6949440"/>
          </a:xfrm>
          <a:prstGeom prst="roundRect">
            <a:avLst>
              <a:gd name="adj" fmla="val 212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3" id="113"/>
          <p:cNvSpPr txBox="true"/>
          <p:nvPr/>
        </p:nvSpPr>
        <p:spPr>
          <a:xfrm>
            <a:off x="11951208" y="2286000"/>
            <a:ext cx="5084064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b="true" sz="1600" spc="24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SUBMITTED BY</a:t>
            </a:r>
          </a:p>
        </p:txBody>
      </p:sp>
      <p:sp>
        <p:nvSpPr>
          <p:cNvPr name="Text 114" id="114"/>
          <p:cNvSpPr txBox="true"/>
          <p:nvPr/>
        </p:nvSpPr>
        <p:spPr>
          <a:xfrm>
            <a:off x="11951208" y="2779776"/>
            <a:ext cx="5084064" cy="21945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-US" b="true" sz="1300" spc="18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TEAM NAME</a:t>
            </a:r>
          </a:p>
        </p:txBody>
      </p:sp>
      <p:sp>
        <p:nvSpPr>
          <p:cNvPr name="Text 115" id="115"/>
          <p:cNvSpPr txBox="true"/>
          <p:nvPr/>
        </p:nvSpPr>
        <p:spPr>
          <a:xfrm>
            <a:off x="11951208" y="3054096"/>
            <a:ext cx="5084064" cy="29921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Track and Field</a:t>
            </a:r>
          </a:p>
        </p:txBody>
      </p:sp>
      <p:sp>
        <p:nvSpPr>
          <p:cNvPr name="Text 116" id="116"/>
          <p:cNvSpPr txBox="true"/>
          <p:nvPr/>
        </p:nvSpPr>
        <p:spPr>
          <a:xfrm>
            <a:off x="11951208" y="3554476"/>
            <a:ext cx="5084064" cy="21945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-US" b="true" sz="1300" spc="18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TEAM LEAD</a:t>
            </a:r>
          </a:p>
        </p:txBody>
      </p:sp>
      <p:sp>
        <p:nvSpPr>
          <p:cNvPr name="Text 117" id="117"/>
          <p:cNvSpPr txBox="true"/>
          <p:nvPr/>
        </p:nvSpPr>
        <p:spPr>
          <a:xfrm>
            <a:off x="11951208" y="3828796"/>
            <a:ext cx="5084064" cy="29921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Anshuman Vijayvargiya  ·  1MS25AI009</a:t>
            </a:r>
          </a:p>
        </p:txBody>
      </p:sp>
      <p:sp>
        <p:nvSpPr>
          <p:cNvPr name="Text 118" id="118"/>
          <p:cNvSpPr txBox="true"/>
          <p:nvPr/>
        </p:nvSpPr>
        <p:spPr>
          <a:xfrm>
            <a:off x="11951208" y="4329176"/>
            <a:ext cx="5084064" cy="21945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-US" b="true" sz="1300" spc="18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MEMBERS</a:t>
            </a:r>
          </a:p>
        </p:txBody>
      </p:sp>
      <p:sp>
        <p:nvSpPr>
          <p:cNvPr name="Text 119" id="119"/>
          <p:cNvSpPr txBox="true"/>
          <p:nvPr/>
        </p:nvSpPr>
        <p:spPr>
          <a:xfrm>
            <a:off x="11951208" y="4603496"/>
            <a:ext cx="5084064" cy="99923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Tharun Rai B  ·  1MS25CS211</a:t>
            </a:r>
          </a:p>
          <a:p>
            <a:pPr algn="l">
              <a:lnSpc>
                <a:spcPts val="2356"/>
              </a:lnSpc>
              <a:spcBef>
                <a:spcPts val="400"/>
              </a:spcBef>
              <a:buNone/>
            </a:pPr>
            <a:r>
              <a:rPr lang="en-US" b="true" sz="19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Tobie Manoj  ·  1MS25CS213</a:t>
            </a:r>
          </a:p>
          <a:p>
            <a:pPr algn="l">
              <a:lnSpc>
                <a:spcPts val="2356"/>
              </a:lnSpc>
              <a:spcBef>
                <a:spcPts val="400"/>
              </a:spcBef>
              <a:buNone/>
            </a:pPr>
            <a:r>
              <a:rPr lang="en-US" b="true" sz="19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Vatsal Kalra  ·  1MS25AI077</a:t>
            </a:r>
          </a:p>
        </p:txBody>
      </p:sp>
      <p:sp>
        <p:nvSpPr>
          <p:cNvPr name="Text 120" id="120"/>
          <p:cNvSpPr txBox="true"/>
          <p:nvPr/>
        </p:nvSpPr>
        <p:spPr>
          <a:xfrm>
            <a:off x="11951208" y="5803900"/>
            <a:ext cx="5084064" cy="21945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-US" b="true" sz="1300" spc="18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CONTACT</a:t>
            </a:r>
          </a:p>
        </p:txBody>
      </p:sp>
      <p:sp>
        <p:nvSpPr>
          <p:cNvPr name="Text 121" id="121"/>
          <p:cNvSpPr txBox="true"/>
          <p:nvPr/>
        </p:nvSpPr>
        <p:spPr>
          <a:xfrm>
            <a:off x="11951208" y="6078220"/>
            <a:ext cx="5084064" cy="64922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anshuman140307@gmail.com</a:t>
            </a:r>
          </a:p>
          <a:p>
            <a:pPr algn="l">
              <a:lnSpc>
                <a:spcPts val="2356"/>
              </a:lnSpc>
              <a:spcBef>
                <a:spcPts val="400"/>
              </a:spcBef>
              <a:buNone/>
            </a:pPr>
            <a:r>
              <a:rPr lang="en-US" b="true" sz="19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7276114029</a:t>
            </a:r>
          </a:p>
        </p:txBody>
      </p:sp>
      <p:sp>
        <p:nvSpPr>
          <p:cNvPr name="Text 122" id="122"/>
          <p:cNvSpPr txBox="true"/>
          <p:nvPr/>
        </p:nvSpPr>
        <p:spPr>
          <a:xfrm>
            <a:off x="11951208" y="6928612"/>
            <a:ext cx="5084064" cy="21945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-US" b="true" sz="1300" spc="18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TRACK</a:t>
            </a:r>
          </a:p>
        </p:txBody>
      </p:sp>
      <p:sp>
        <p:nvSpPr>
          <p:cNvPr name="Text 123" id="123"/>
          <p:cNvSpPr txBox="true"/>
          <p:nvPr/>
        </p:nvSpPr>
        <p:spPr>
          <a:xfrm>
            <a:off x="11951208" y="7202932"/>
            <a:ext cx="5084064" cy="29921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Track 1 — Sovereign AI</a:t>
            </a:r>
          </a:p>
        </p:txBody>
      </p:sp>
      <p:sp>
        <p:nvSpPr>
          <p:cNvPr name="Text 124" id="124"/>
          <p:cNvSpPr txBox="true"/>
          <p:nvPr/>
        </p:nvSpPr>
        <p:spPr>
          <a:xfrm>
            <a:off x="11951208" y="7703312"/>
            <a:ext cx="5084064" cy="21945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buNone/>
            </a:pPr>
            <a:r>
              <a:rPr lang="en-US" b="true" sz="1300" spc="18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INSTITUTE</a:t>
            </a:r>
          </a:p>
        </p:txBody>
      </p:sp>
      <p:sp>
        <p:nvSpPr>
          <p:cNvPr name="Text 125" id="125"/>
          <p:cNvSpPr txBox="true"/>
          <p:nvPr/>
        </p:nvSpPr>
        <p:spPr>
          <a:xfrm>
            <a:off x="11951208" y="7977632"/>
            <a:ext cx="5084064" cy="29921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356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Ramaiah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 101" id="101"/>
          <p:cNvSpPr txBox="true"/>
          <p:nvPr/>
        </p:nvSpPr>
        <p:spPr>
          <a:xfrm>
            <a:off x="777240" y="1627632"/>
            <a:ext cx="16733520" cy="7132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5618"/>
              </a:lnSpc>
              <a:spcBef>
                <a:spcPts val="0"/>
              </a:spcBef>
              <a:buNone/>
            </a:pPr>
            <a:r>
              <a:rPr lang="en-US" b="true" sz="53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What problem are you solving?</a:t>
            </a:r>
          </a:p>
        </p:txBody>
      </p:sp>
      <p:sp>
        <p:nvSpPr>
          <p:cNvPr name="Text 102" id="102"/>
          <p:cNvSpPr txBox="true"/>
          <p:nvPr/>
        </p:nvSpPr>
        <p:spPr>
          <a:xfrm>
            <a:off x="777240" y="2523744"/>
            <a:ext cx="16733520" cy="51206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buNone/>
            </a:pPr>
            <a:r>
              <a:rPr lang="en-US" sz="2700">
                <a:solidFill>
                  <a:srgbClr val="C4B5FD"/>
                </a:solidFill>
                <a:latin typeface="Arimo"/>
                <a:ea typeface="Arimo"/>
                <a:cs typeface="Arimo"/>
                <a:sym typeface="Arimo"/>
              </a:rPr>
              <a:t xml:space="preserve">Service is restored fast. The cause stays hidden — and never reaches the next decision.</a:t>
            </a:r>
          </a:p>
        </p:txBody>
      </p:sp>
      <p:sp>
        <p:nvSpPr>
          <p:cNvPr name="Card 103" id="103"/>
          <p:cNvSpPr/>
          <p:nvPr/>
        </p:nvSpPr>
        <p:spPr>
          <a:xfrm>
            <a:off x="777240" y="3273552"/>
            <a:ext cx="16733520" cy="1938528"/>
          </a:xfrm>
          <a:prstGeom prst="roundRect">
            <a:avLst>
              <a:gd name="adj" fmla="val 6603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04" id="104"/>
          <p:cNvSpPr txBox="true"/>
          <p:nvPr/>
        </p:nvSpPr>
        <p:spPr>
          <a:xfrm>
            <a:off x="1325880" y="3511296"/>
            <a:ext cx="15636240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b="true" sz="1600" spc="22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THE LOOP NOBODY SEES</a:t>
            </a:r>
          </a:p>
        </p:txBody>
      </p:sp>
      <p:sp>
        <p:nvSpPr>
          <p:cNvPr name="Card 105" id="105"/>
          <p:cNvSpPr/>
          <p:nvPr/>
        </p:nvSpPr>
        <p:spPr>
          <a:xfrm>
            <a:off x="1325880" y="3858768"/>
            <a:ext cx="3621024" cy="62179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06" id="106"/>
          <p:cNvSpPr txBox="true"/>
          <p:nvPr/>
        </p:nvSpPr>
        <p:spPr>
          <a:xfrm>
            <a:off x="1435608" y="4034790"/>
            <a:ext cx="3401568" cy="269748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buNone/>
            </a:pPr>
            <a:r>
              <a:rPr lang="en-US" b="true" sz="18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FAILURE</a:t>
            </a:r>
          </a:p>
        </p:txBody>
      </p:sp>
      <p:sp>
        <p:nvSpPr>
          <p:cNvPr name="Text 107" id="107"/>
          <p:cNvSpPr txBox="true"/>
          <p:nvPr/>
        </p:nvSpPr>
        <p:spPr>
          <a:xfrm>
            <a:off x="4946904" y="3968496"/>
            <a:ext cx="384048" cy="40233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3000"/>
              </a:lnSpc>
              <a:spcBef>
                <a:spcPts val="0"/>
              </a:spcBef>
              <a:buNone/>
            </a:pPr>
            <a:r>
              <a:rPr lang="en-US" b="true" sz="30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08" id="108"/>
          <p:cNvSpPr/>
          <p:nvPr/>
        </p:nvSpPr>
        <p:spPr>
          <a:xfrm>
            <a:off x="5330952" y="3858768"/>
            <a:ext cx="3621024" cy="62179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09" id="109"/>
          <p:cNvSpPr txBox="true"/>
          <p:nvPr/>
        </p:nvSpPr>
        <p:spPr>
          <a:xfrm>
            <a:off x="5440680" y="4034790"/>
            <a:ext cx="3401568" cy="269748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buNone/>
            </a:pPr>
            <a:r>
              <a:rPr lang="en-US" b="true" sz="18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WORKAROUND</a:t>
            </a:r>
          </a:p>
        </p:txBody>
      </p:sp>
      <p:sp>
        <p:nvSpPr>
          <p:cNvPr name="Text 110" id="110"/>
          <p:cNvSpPr txBox="true"/>
          <p:nvPr/>
        </p:nvSpPr>
        <p:spPr>
          <a:xfrm>
            <a:off x="8951976" y="3968496"/>
            <a:ext cx="384048" cy="40233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3000"/>
              </a:lnSpc>
              <a:spcBef>
                <a:spcPts val="0"/>
              </a:spcBef>
              <a:buNone/>
            </a:pPr>
            <a:r>
              <a:rPr lang="en-US" b="true" sz="30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11" id="111"/>
          <p:cNvSpPr/>
          <p:nvPr/>
        </p:nvSpPr>
        <p:spPr>
          <a:xfrm>
            <a:off x="9336024" y="3858768"/>
            <a:ext cx="3621024" cy="62179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2" id="112"/>
          <p:cNvSpPr txBox="true"/>
          <p:nvPr/>
        </p:nvSpPr>
        <p:spPr>
          <a:xfrm>
            <a:off x="9445752" y="4034790"/>
            <a:ext cx="3401568" cy="269748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buNone/>
            </a:pPr>
            <a:r>
              <a:rPr lang="en-US" b="true" sz="18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SERVICE RESTORED</a:t>
            </a:r>
          </a:p>
        </p:txBody>
      </p:sp>
      <p:sp>
        <p:nvSpPr>
          <p:cNvPr name="Text 113" id="113"/>
          <p:cNvSpPr txBox="true"/>
          <p:nvPr/>
        </p:nvSpPr>
        <p:spPr>
          <a:xfrm>
            <a:off x="12957048" y="3968496"/>
            <a:ext cx="384048" cy="40233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3000"/>
              </a:lnSpc>
              <a:spcBef>
                <a:spcPts val="0"/>
              </a:spcBef>
              <a:buNone/>
            </a:pPr>
            <a:r>
              <a:rPr lang="en-US" b="true" sz="30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14" id="114"/>
          <p:cNvSpPr/>
          <p:nvPr/>
        </p:nvSpPr>
        <p:spPr>
          <a:xfrm>
            <a:off x="13341096" y="3858768"/>
            <a:ext cx="3621024" cy="62179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5" id="115"/>
          <p:cNvSpPr txBox="true"/>
          <p:nvPr/>
        </p:nvSpPr>
        <p:spPr>
          <a:xfrm>
            <a:off x="13450824" y="4034790"/>
            <a:ext cx="3401568" cy="269748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buNone/>
            </a:pPr>
            <a:r>
              <a:rPr lang="en-US" b="true" sz="18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TICKET CLOSED</a:t>
            </a:r>
          </a:p>
        </p:txBody>
      </p:sp>
      <p:sp>
        <p:nvSpPr>
          <p:cNvPr name="Shape 116" id="116"/>
          <p:cNvSpPr/>
          <p:nvPr/>
        </p:nvSpPr>
        <p:spPr>
          <a:xfrm>
            <a:off x="1325880" y="4626864"/>
            <a:ext cx="15636240" cy="274320"/>
          </a:xfrm>
          <a:prstGeom prst="leftArrow">
            <a:avLst>
              <a:gd name="adj1" fmla="val 60000"/>
              <a:gd name="adj2" fmla="val 1400"/>
            </a:avLst>
          </a:prstGeom>
          <a:solidFill>
            <a:srgbClr val="FBBF24"/>
          </a:solidFill>
        </p:spPr>
        <p:txBody>
          <a:bodyPr/>
          <a:lstStyle/>
          <a:p/>
        </p:txBody>
      </p:sp>
      <p:sp>
        <p:nvSpPr>
          <p:cNvPr name="Text 117" id="117"/>
          <p:cNvSpPr txBox="true"/>
          <p:nvPr/>
        </p:nvSpPr>
        <p:spPr>
          <a:xfrm>
            <a:off x="1325880" y="4956048"/>
            <a:ext cx="15636240" cy="23774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buNone/>
            </a:pPr>
            <a:r>
              <a:rPr lang="en-US" b="true" sz="1500">
                <a:solidFill>
                  <a:srgbClr val="FBBF24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the underlying cause often survives the fix — and returns elsewhere</a:t>
            </a:r>
          </a:p>
        </p:txBody>
      </p:sp>
      <p:sp>
        <p:nvSpPr>
          <p:cNvPr name="Card 118" id="118"/>
          <p:cNvSpPr/>
          <p:nvPr/>
        </p:nvSpPr>
        <p:spPr>
          <a:xfrm>
            <a:off x="777240" y="5504688"/>
            <a:ext cx="3950208" cy="3749040"/>
          </a:xfrm>
          <a:prstGeom prst="roundRect">
            <a:avLst>
              <a:gd name="adj" fmla="val 341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19" id="119"/>
          <p:cNvSpPr/>
          <p:nvPr/>
        </p:nvSpPr>
        <p:spPr>
          <a:xfrm>
            <a:off x="1161288" y="5852414"/>
            <a:ext cx="530352" cy="530352"/>
          </a:xfrm>
          <a:prstGeom prst="ellipse">
            <a:avLst/>
          </a:prstGeom>
          <a:solidFill>
            <a:srgbClr val="8B5CF6"/>
          </a:solidFill>
        </p:spPr>
        <p:txBody>
          <a:bodyPr/>
          <a:lstStyle/>
          <a:p/>
        </p:txBody>
      </p:sp>
      <p:sp>
        <p:nvSpPr>
          <p:cNvPr name="Text 120" id="120"/>
          <p:cNvSpPr txBox="true"/>
          <p:nvPr/>
        </p:nvSpPr>
        <p:spPr>
          <a:xfrm>
            <a:off x="1161288" y="5969091"/>
            <a:ext cx="530352" cy="318211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01</a:t>
            </a:r>
          </a:p>
        </p:txBody>
      </p:sp>
      <p:sp>
        <p:nvSpPr>
          <p:cNvPr name="Text 121" id="121"/>
          <p:cNvSpPr txBox="true"/>
          <p:nvPr/>
        </p:nvSpPr>
        <p:spPr>
          <a:xfrm>
            <a:off x="1892808" y="5852414"/>
            <a:ext cx="2450592" cy="92811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buNone/>
            </a:pPr>
            <a:r>
              <a:rPr lang="en-US" b="true" sz="21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Knowledge is written once, then lost</a:t>
            </a:r>
          </a:p>
        </p:txBody>
      </p:sp>
      <p:sp>
        <p:nvSpPr>
          <p:cNvPr name="Text 122" id="122"/>
          <p:cNvSpPr txBox="true"/>
          <p:nvPr/>
        </p:nvSpPr>
        <p:spPr>
          <a:xfrm>
            <a:off x="1161288" y="6999986"/>
            <a:ext cx="3182112" cy="190627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144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Incident reports, tickets, logs, postmortems, exceptions and workarounds are produced daily, then scattered across systems nobody will think to search. Most is read once and never assembled again.</a:t>
            </a:r>
          </a:p>
        </p:txBody>
      </p:sp>
      <p:sp>
        <p:nvSpPr>
          <p:cNvPr name="Card 123" id="123"/>
          <p:cNvSpPr/>
          <p:nvPr/>
        </p:nvSpPr>
        <p:spPr>
          <a:xfrm>
            <a:off x="5038344" y="5504688"/>
            <a:ext cx="3950208" cy="3749040"/>
          </a:xfrm>
          <a:prstGeom prst="roundRect">
            <a:avLst>
              <a:gd name="adj" fmla="val 341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24" id="124"/>
          <p:cNvSpPr/>
          <p:nvPr/>
        </p:nvSpPr>
        <p:spPr>
          <a:xfrm>
            <a:off x="5422392" y="5852414"/>
            <a:ext cx="530352" cy="530352"/>
          </a:xfrm>
          <a:prstGeom prst="ellipse">
            <a:avLst/>
          </a:prstGeom>
          <a:solidFill>
            <a:srgbClr val="8B5CF6"/>
          </a:solidFill>
        </p:spPr>
        <p:txBody>
          <a:bodyPr/>
          <a:lstStyle/>
          <a:p/>
        </p:txBody>
      </p:sp>
      <p:sp>
        <p:nvSpPr>
          <p:cNvPr name="Text 125" id="125"/>
          <p:cNvSpPr txBox="true"/>
          <p:nvPr/>
        </p:nvSpPr>
        <p:spPr>
          <a:xfrm>
            <a:off x="5422392" y="5969091"/>
            <a:ext cx="530352" cy="318211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02</a:t>
            </a:r>
          </a:p>
        </p:txBody>
      </p:sp>
      <p:sp>
        <p:nvSpPr>
          <p:cNvPr name="Text 126" id="126"/>
          <p:cNvSpPr txBox="true"/>
          <p:nvPr/>
        </p:nvSpPr>
        <p:spPr>
          <a:xfrm>
            <a:off x="6153912" y="5852414"/>
            <a:ext cx="2450592" cy="92811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buNone/>
            </a:pPr>
            <a:r>
              <a:rPr lang="en-US" b="true" sz="21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Recovery is optimised, causes are not</a:t>
            </a:r>
          </a:p>
        </p:txBody>
      </p:sp>
      <p:sp>
        <p:nvSpPr>
          <p:cNvPr name="Text 127" id="127"/>
          <p:cNvSpPr txBox="true"/>
          <p:nvPr/>
        </p:nvSpPr>
        <p:spPr>
          <a:xfrm>
            <a:off x="5422392" y="6999986"/>
            <a:ext cx="3182112" cy="190627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144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Teams are measured on restoring service. The symptom clears, the ticket closes, and the flawed assumption behind it survives the fix that was supposed to remove it.</a:t>
            </a:r>
          </a:p>
        </p:txBody>
      </p:sp>
      <p:sp>
        <p:nvSpPr>
          <p:cNvPr name="Card 128" id="128"/>
          <p:cNvSpPr/>
          <p:nvPr/>
        </p:nvSpPr>
        <p:spPr>
          <a:xfrm>
            <a:off x="9299448" y="5504688"/>
            <a:ext cx="3950208" cy="3749040"/>
          </a:xfrm>
          <a:prstGeom prst="roundRect">
            <a:avLst>
              <a:gd name="adj" fmla="val 341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29" id="129"/>
          <p:cNvSpPr/>
          <p:nvPr/>
        </p:nvSpPr>
        <p:spPr>
          <a:xfrm>
            <a:off x="9683496" y="5852414"/>
            <a:ext cx="530352" cy="530352"/>
          </a:xfrm>
          <a:prstGeom prst="ellipse">
            <a:avLst/>
          </a:prstGeom>
          <a:solidFill>
            <a:srgbClr val="FBBF24"/>
          </a:solidFill>
        </p:spPr>
        <p:txBody>
          <a:bodyPr/>
          <a:lstStyle/>
          <a:p/>
        </p:txBody>
      </p:sp>
      <p:sp>
        <p:nvSpPr>
          <p:cNvPr name="Text 130" id="130"/>
          <p:cNvSpPr txBox="true"/>
          <p:nvPr/>
        </p:nvSpPr>
        <p:spPr>
          <a:xfrm>
            <a:off x="9683496" y="5969091"/>
            <a:ext cx="530352" cy="318211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03</a:t>
            </a:r>
          </a:p>
        </p:txBody>
      </p:sp>
      <p:sp>
        <p:nvSpPr>
          <p:cNvPr name="Text 131" id="131"/>
          <p:cNvSpPr txBox="true"/>
          <p:nvPr/>
        </p:nvSpPr>
        <p:spPr>
          <a:xfrm>
            <a:off x="10415016" y="5852414"/>
            <a:ext cx="2450592" cy="61874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buNone/>
            </a:pPr>
            <a:r>
              <a:rPr lang="en-US" b="true" sz="21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Failure debt compounds</a:t>
            </a:r>
          </a:p>
        </p:txBody>
      </p:sp>
      <p:sp>
        <p:nvSpPr>
          <p:cNvPr name="Text 132" id="132"/>
          <p:cNvSpPr txBox="true"/>
          <p:nvPr/>
        </p:nvSpPr>
        <p:spPr>
          <a:xfrm>
            <a:off x="9683496" y="6999986"/>
            <a:ext cx="3182112" cy="190627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144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The same cause resurfaces weeks later in another team, wearing a different symptom. Workarounds stack up, and the evidence that would connect them is never assembled when somebody decides.</a:t>
            </a:r>
          </a:p>
        </p:txBody>
      </p:sp>
      <p:sp>
        <p:nvSpPr>
          <p:cNvPr name="Card 133" id="133"/>
          <p:cNvSpPr/>
          <p:nvPr/>
        </p:nvSpPr>
        <p:spPr>
          <a:xfrm>
            <a:off x="13560552" y="5504688"/>
            <a:ext cx="3950208" cy="3749040"/>
          </a:xfrm>
          <a:prstGeom prst="roundRect">
            <a:avLst>
              <a:gd name="adj" fmla="val 341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34" id="134"/>
          <p:cNvSpPr/>
          <p:nvPr/>
        </p:nvSpPr>
        <p:spPr>
          <a:xfrm>
            <a:off x="13944600" y="5852414"/>
            <a:ext cx="530352" cy="530352"/>
          </a:xfrm>
          <a:prstGeom prst="ellipse">
            <a:avLst/>
          </a:prstGeom>
          <a:solidFill>
            <a:srgbClr val="8B5CF6"/>
          </a:solidFill>
        </p:spPr>
        <p:txBody>
          <a:bodyPr/>
          <a:lstStyle/>
          <a:p/>
        </p:txBody>
      </p:sp>
      <p:sp>
        <p:nvSpPr>
          <p:cNvPr name="Text 135" id="135"/>
          <p:cNvSpPr txBox="true"/>
          <p:nvPr/>
        </p:nvSpPr>
        <p:spPr>
          <a:xfrm>
            <a:off x="13944600" y="5969091"/>
            <a:ext cx="530352" cy="318211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04</a:t>
            </a:r>
          </a:p>
        </p:txBody>
      </p:sp>
      <p:sp>
        <p:nvSpPr>
          <p:cNvPr name="Text 136" id="136"/>
          <p:cNvSpPr txBox="true"/>
          <p:nvPr/>
        </p:nvSpPr>
        <p:spPr>
          <a:xfrm>
            <a:off x="14676120" y="5852414"/>
            <a:ext cx="2450592" cy="61874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buNone/>
            </a:pPr>
            <a:r>
              <a:rPr lang="en-US" b="true" sz="21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And it is the worst data to hand over</a:t>
            </a:r>
          </a:p>
        </p:txBody>
      </p:sp>
      <p:sp>
        <p:nvSpPr>
          <p:cNvPr name="Text 137" id="137"/>
          <p:cNvSpPr txBox="true"/>
          <p:nvPr/>
        </p:nvSpPr>
        <p:spPr>
          <a:xfrm>
            <a:off x="13944600" y="6999986"/>
            <a:ext cx="3182112" cy="190627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144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Incident data exposes credentials, internal topology, customer impact and a map of where the organisation is weakest. Many teams are contractually barred from sending it to a third party; the rest simply should not.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688982"/>
            <a:chOff x="0" y="0"/>
            <a:chExt cx="24384000" cy="12918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918643"/>
            </a:xfrm>
            <a:custGeom>
              <a:avLst/>
              <a:gdLst/>
              <a:ahLst/>
              <a:cxnLst/>
              <a:rect r="r" b="b" t="t" l="l"/>
              <a:pathLst>
                <a:path h="129186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918643"/>
                  </a:lnTo>
                  <a:lnTo>
                    <a:pt x="0" y="12918643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 101" id="101"/>
          <p:cNvSpPr txBox="true"/>
          <p:nvPr/>
        </p:nvSpPr>
        <p:spPr>
          <a:xfrm>
            <a:off x="777240" y="1627632"/>
            <a:ext cx="16733520" cy="7132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5618"/>
              </a:lnSpc>
              <a:spcBef>
                <a:spcPts val="0"/>
              </a:spcBef>
              <a:buNone/>
            </a:pPr>
            <a:r>
              <a:rPr lang="en-US" b="true" sz="53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What is your solution?</a:t>
            </a:r>
          </a:p>
        </p:txBody>
      </p:sp>
      <p:sp>
        <p:nvSpPr>
          <p:cNvPr name="Text 102" id="102"/>
          <p:cNvSpPr txBox="true"/>
          <p:nvPr/>
        </p:nvSpPr>
        <p:spPr>
          <a:xfrm>
            <a:off x="777240" y="2523744"/>
            <a:ext cx="16733520" cy="51206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buNone/>
            </a:pPr>
            <a:r>
              <a:rPr lang="en-US" sz="2700">
                <a:solidFill>
                  <a:srgbClr val="C4B5FD"/>
                </a:solidFill>
                <a:latin typeface="Arimo"/>
                <a:ea typeface="Arimo"/>
                <a:cs typeface="Arimo"/>
                <a:sym typeface="Arimo"/>
              </a:rPr>
              <a:t xml:space="preserve">Not AI that knows what happened — AI that understands why it keeps happening.</a:t>
            </a:r>
          </a:p>
        </p:txBody>
      </p:sp>
      <p:sp>
        <p:nvSpPr>
          <p:cNvPr name="Card 103" id="103"/>
          <p:cNvSpPr/>
          <p:nvPr/>
        </p:nvSpPr>
        <p:spPr>
          <a:xfrm>
            <a:off x="777240" y="3273552"/>
            <a:ext cx="16733520" cy="1609344"/>
          </a:xfrm>
          <a:prstGeom prst="roundRect">
            <a:avLst>
              <a:gd name="adj" fmla="val 7954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04" id="104"/>
          <p:cNvSpPr txBox="true"/>
          <p:nvPr/>
        </p:nvSpPr>
        <p:spPr>
          <a:xfrm>
            <a:off x="1325880" y="3493008"/>
            <a:ext cx="15636240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b="true" sz="1600" spc="22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WHAT A RECURRENCE CLUSTER LOOKS LIKE</a:t>
            </a:r>
          </a:p>
        </p:txBody>
      </p:sp>
      <p:sp>
        <p:nvSpPr>
          <p:cNvPr name="Card 105" id="105"/>
          <p:cNvSpPr/>
          <p:nvPr/>
        </p:nvSpPr>
        <p:spPr>
          <a:xfrm>
            <a:off x="1325880" y="3950208"/>
            <a:ext cx="1371600" cy="512064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06" id="106"/>
          <p:cNvSpPr txBox="true"/>
          <p:nvPr/>
        </p:nvSpPr>
        <p:spPr>
          <a:xfrm>
            <a:off x="1435608" y="4093845"/>
            <a:ext cx="1152144" cy="22479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buNone/>
            </a:pPr>
            <a:r>
              <a:rPr lang="en-US" b="true" sz="15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INC-102</a:t>
            </a:r>
          </a:p>
        </p:txBody>
      </p:sp>
      <p:sp>
        <p:nvSpPr>
          <p:cNvPr name="Card 107" id="107"/>
          <p:cNvSpPr/>
          <p:nvPr/>
        </p:nvSpPr>
        <p:spPr>
          <a:xfrm>
            <a:off x="2807208" y="3950208"/>
            <a:ext cx="1371600" cy="512064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08" id="108"/>
          <p:cNvSpPr txBox="true"/>
          <p:nvPr/>
        </p:nvSpPr>
        <p:spPr>
          <a:xfrm>
            <a:off x="2916936" y="4093845"/>
            <a:ext cx="1152144" cy="22479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buNone/>
            </a:pPr>
            <a:r>
              <a:rPr lang="en-US" b="true" sz="15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INC-217</a:t>
            </a:r>
          </a:p>
        </p:txBody>
      </p:sp>
      <p:sp>
        <p:nvSpPr>
          <p:cNvPr name="Card 109" id="109"/>
          <p:cNvSpPr/>
          <p:nvPr/>
        </p:nvSpPr>
        <p:spPr>
          <a:xfrm>
            <a:off x="4288536" y="3950208"/>
            <a:ext cx="1371600" cy="512064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0" id="110"/>
          <p:cNvSpPr txBox="true"/>
          <p:nvPr/>
        </p:nvSpPr>
        <p:spPr>
          <a:xfrm>
            <a:off x="4398264" y="4093845"/>
            <a:ext cx="1152144" cy="22479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buNone/>
            </a:pPr>
            <a:r>
              <a:rPr lang="en-US" b="true" sz="15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INC-288</a:t>
            </a:r>
          </a:p>
        </p:txBody>
      </p:sp>
      <p:sp>
        <p:nvSpPr>
          <p:cNvPr name="Text 111" id="111"/>
          <p:cNvSpPr txBox="true"/>
          <p:nvPr/>
        </p:nvSpPr>
        <p:spPr>
          <a:xfrm>
            <a:off x="5660136" y="4005072"/>
            <a:ext cx="475488" cy="40233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lang="en-US" b="true" sz="28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12" id="112"/>
          <p:cNvSpPr/>
          <p:nvPr/>
        </p:nvSpPr>
        <p:spPr>
          <a:xfrm>
            <a:off x="6172200" y="3950208"/>
            <a:ext cx="5577840" cy="512064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3" id="113"/>
          <p:cNvSpPr txBox="true"/>
          <p:nvPr/>
        </p:nvSpPr>
        <p:spPr>
          <a:xfrm>
            <a:off x="6281928" y="4101338"/>
            <a:ext cx="5358384" cy="2098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buNone/>
            </a:pPr>
            <a:r>
              <a:rPr lang="en-US" b="true" sz="14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shared causal hypothesis: connection-pool exhaustion</a:t>
            </a:r>
          </a:p>
        </p:txBody>
      </p:sp>
      <p:sp>
        <p:nvSpPr>
          <p:cNvPr name="Text 114" id="114"/>
          <p:cNvSpPr txBox="true"/>
          <p:nvPr/>
        </p:nvSpPr>
        <p:spPr>
          <a:xfrm>
            <a:off x="11750040" y="4005072"/>
            <a:ext cx="475488" cy="40233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800"/>
              </a:lnSpc>
              <a:spcBef>
                <a:spcPts val="0"/>
              </a:spcBef>
              <a:buNone/>
            </a:pPr>
            <a:r>
              <a:rPr lang="en-US" b="true" sz="28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15" id="115"/>
          <p:cNvSpPr/>
          <p:nvPr/>
        </p:nvSpPr>
        <p:spPr>
          <a:xfrm>
            <a:off x="12225528" y="3950208"/>
            <a:ext cx="4754880" cy="512064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6" id="116"/>
          <p:cNvSpPr txBox="true"/>
          <p:nvPr/>
        </p:nvSpPr>
        <p:spPr>
          <a:xfrm>
            <a:off x="12335256" y="4093845"/>
            <a:ext cx="4535424" cy="22479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770"/>
              </a:lnSpc>
              <a:spcBef>
                <a:spcPts val="0"/>
              </a:spcBef>
              <a:buNone/>
            </a:pPr>
            <a:r>
              <a:rPr lang="en-US" b="true" sz="1500">
                <a:solidFill>
                  <a:srgbClr val="F87171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January patch — 3 recurrences since</a:t>
            </a:r>
          </a:p>
        </p:txBody>
      </p:sp>
      <p:sp>
        <p:nvSpPr>
          <p:cNvPr name="Text 117" id="117"/>
          <p:cNvSpPr txBox="true"/>
          <p:nvPr/>
        </p:nvSpPr>
        <p:spPr>
          <a:xfrm>
            <a:off x="1325880" y="4590288"/>
            <a:ext cx="15636240" cy="23774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93A4BF"/>
                </a:solidFill>
                <a:latin typeface="Arimo"/>
                <a:ea typeface="Arimo"/>
                <a:cs typeface="Arimo"/>
                <a:sym typeface="Arimo"/>
              </a:rPr>
              <a:t xml:space="preserve">Three tests must agree before incidents join a cluster, and the remediation is marked ineffective by the timeline, not by the model.</a:t>
            </a:r>
          </a:p>
        </p:txBody>
      </p:sp>
      <p:sp>
        <p:nvSpPr>
          <p:cNvPr name="Card 118" id="118"/>
          <p:cNvSpPr/>
          <p:nvPr/>
        </p:nvSpPr>
        <p:spPr>
          <a:xfrm>
            <a:off x="777240" y="5175504"/>
            <a:ext cx="3141878" cy="2889504"/>
          </a:xfrm>
          <a:prstGeom prst="roundRect">
            <a:avLst>
              <a:gd name="adj" fmla="val 443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19" id="119"/>
          <p:cNvSpPr/>
          <p:nvPr/>
        </p:nvSpPr>
        <p:spPr>
          <a:xfrm>
            <a:off x="1051560" y="5549519"/>
            <a:ext cx="475488" cy="475488"/>
          </a:xfrm>
          <a:prstGeom prst="ellipse">
            <a:avLst/>
          </a:prstGeom>
          <a:solidFill>
            <a:srgbClr val="8B5CF6"/>
          </a:solidFill>
        </p:spPr>
        <p:txBody>
          <a:bodyPr/>
          <a:lstStyle/>
          <a:p/>
        </p:txBody>
      </p:sp>
      <p:sp>
        <p:nvSpPr>
          <p:cNvPr name="Text 120" id="120"/>
          <p:cNvSpPr txBox="true"/>
          <p:nvPr/>
        </p:nvSpPr>
        <p:spPr>
          <a:xfrm>
            <a:off x="1051560" y="5654126"/>
            <a:ext cx="475488" cy="285293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1</a:t>
            </a:r>
          </a:p>
        </p:txBody>
      </p:sp>
      <p:sp>
        <p:nvSpPr>
          <p:cNvPr name="Text 121" id="121"/>
          <p:cNvSpPr txBox="true"/>
          <p:nvPr/>
        </p:nvSpPr>
        <p:spPr>
          <a:xfrm>
            <a:off x="1728216" y="5603113"/>
            <a:ext cx="1916582" cy="36830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buNone/>
            </a:pPr>
            <a:r>
              <a:rPr lang="en-US" b="true" sz="25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Observe</a:t>
            </a:r>
          </a:p>
        </p:txBody>
      </p:sp>
      <p:sp>
        <p:nvSpPr>
          <p:cNvPr name="Text 122" id="122"/>
          <p:cNvSpPr txBox="true"/>
          <p:nvPr/>
        </p:nvSpPr>
        <p:spPr>
          <a:xfrm>
            <a:off x="1051560" y="6244463"/>
            <a:ext cx="2593238" cy="1473073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278"/>
              </a:lnSpc>
              <a:spcBef>
                <a:spcPts val="0"/>
              </a:spcBef>
              <a:buNone/>
            </a:pPr>
            <a:r>
              <a:rPr lang="en-US" sz="1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A watch-folder daemon ingests incidents, tickets and postmortems. Parse, chunk and embed locally; nothing uploads.</a:t>
            </a:r>
          </a:p>
        </p:txBody>
      </p:sp>
      <p:sp>
        <p:nvSpPr>
          <p:cNvPr name="Card 123" id="123"/>
          <p:cNvSpPr/>
          <p:nvPr/>
        </p:nvSpPr>
        <p:spPr>
          <a:xfrm>
            <a:off x="4175150" y="5175504"/>
            <a:ext cx="3141878" cy="2889504"/>
          </a:xfrm>
          <a:prstGeom prst="roundRect">
            <a:avLst>
              <a:gd name="adj" fmla="val 443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24" id="124"/>
          <p:cNvSpPr/>
          <p:nvPr/>
        </p:nvSpPr>
        <p:spPr>
          <a:xfrm>
            <a:off x="4449470" y="5549519"/>
            <a:ext cx="475488" cy="475488"/>
          </a:xfrm>
          <a:prstGeom prst="ellipse">
            <a:avLst/>
          </a:prstGeom>
          <a:solidFill>
            <a:srgbClr val="8B5CF6"/>
          </a:solidFill>
        </p:spPr>
        <p:txBody>
          <a:bodyPr/>
          <a:lstStyle/>
          <a:p/>
        </p:txBody>
      </p:sp>
      <p:sp>
        <p:nvSpPr>
          <p:cNvPr name="Text 125" id="125"/>
          <p:cNvSpPr txBox="true"/>
          <p:nvPr/>
        </p:nvSpPr>
        <p:spPr>
          <a:xfrm>
            <a:off x="4449470" y="5654126"/>
            <a:ext cx="475488" cy="285293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2</a:t>
            </a:r>
          </a:p>
        </p:txBody>
      </p:sp>
      <p:sp>
        <p:nvSpPr>
          <p:cNvPr name="Text 126" id="126"/>
          <p:cNvSpPr txBox="true"/>
          <p:nvPr/>
        </p:nvSpPr>
        <p:spPr>
          <a:xfrm>
            <a:off x="5126126" y="5603113"/>
            <a:ext cx="1916582" cy="36830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buNone/>
            </a:pPr>
            <a:r>
              <a:rPr lang="en-US" b="true" sz="25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Model</a:t>
            </a:r>
          </a:p>
        </p:txBody>
      </p:sp>
      <p:sp>
        <p:nvSpPr>
          <p:cNvPr name="Text 127" id="127"/>
          <p:cNvSpPr txBox="true"/>
          <p:nvPr/>
        </p:nvSpPr>
        <p:spPr>
          <a:xfrm>
            <a:off x="4449470" y="6244463"/>
            <a:ext cx="2593238" cy="1473073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278"/>
              </a:lnSpc>
              <a:spcBef>
                <a:spcPts val="0"/>
              </a:spcBef>
              <a:buNone/>
            </a:pPr>
            <a:r>
              <a:rPr lang="en-US" sz="1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Constrained extraction gives each incident a failure fingerprint: component, symptom, dependency, owner.</a:t>
            </a:r>
          </a:p>
        </p:txBody>
      </p:sp>
      <p:sp>
        <p:nvSpPr>
          <p:cNvPr name="Card 128" id="128"/>
          <p:cNvSpPr/>
          <p:nvPr/>
        </p:nvSpPr>
        <p:spPr>
          <a:xfrm>
            <a:off x="7573061" y="5175504"/>
            <a:ext cx="3141878" cy="2889504"/>
          </a:xfrm>
          <a:prstGeom prst="roundRect">
            <a:avLst>
              <a:gd name="adj" fmla="val 443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29" id="129"/>
          <p:cNvSpPr/>
          <p:nvPr/>
        </p:nvSpPr>
        <p:spPr>
          <a:xfrm>
            <a:off x="7847381" y="5549519"/>
            <a:ext cx="475488" cy="475488"/>
          </a:xfrm>
          <a:prstGeom prst="ellipse">
            <a:avLst/>
          </a:prstGeom>
          <a:solidFill>
            <a:srgbClr val="8B5CF6"/>
          </a:solidFill>
        </p:spPr>
        <p:txBody>
          <a:bodyPr/>
          <a:lstStyle/>
          <a:p/>
        </p:txBody>
      </p:sp>
      <p:sp>
        <p:nvSpPr>
          <p:cNvPr name="Text 130" id="130"/>
          <p:cNvSpPr txBox="true"/>
          <p:nvPr/>
        </p:nvSpPr>
        <p:spPr>
          <a:xfrm>
            <a:off x="7847381" y="5654126"/>
            <a:ext cx="475488" cy="285293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3</a:t>
            </a:r>
          </a:p>
        </p:txBody>
      </p:sp>
      <p:sp>
        <p:nvSpPr>
          <p:cNvPr name="Text 131" id="131"/>
          <p:cNvSpPr txBox="true"/>
          <p:nvPr/>
        </p:nvSpPr>
        <p:spPr>
          <a:xfrm>
            <a:off x="8524037" y="5603113"/>
            <a:ext cx="1916582" cy="36830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buNone/>
            </a:pPr>
            <a:r>
              <a:rPr lang="en-US" b="true" sz="25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Remember</a:t>
            </a:r>
          </a:p>
        </p:txBody>
      </p:sp>
      <p:sp>
        <p:nvSpPr>
          <p:cNvPr name="Text 132" id="132"/>
          <p:cNvSpPr txBox="true"/>
          <p:nvPr/>
        </p:nvSpPr>
        <p:spPr>
          <a:xfrm>
            <a:off x="7847381" y="6244463"/>
            <a:ext cx="2593238" cy="1473073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278"/>
              </a:lnSpc>
              <a:spcBef>
                <a:spcPts val="0"/>
              </a:spcBef>
              <a:buNone/>
            </a:pPr>
            <a:r>
              <a:rPr lang="en-US" sz="1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Bi-temporal facts record when each was true. Decisions are superseded, never erased, so history stays answerable.</a:t>
            </a:r>
          </a:p>
        </p:txBody>
      </p:sp>
      <p:sp>
        <p:nvSpPr>
          <p:cNvPr name="Card 133" id="133"/>
          <p:cNvSpPr/>
          <p:nvPr/>
        </p:nvSpPr>
        <p:spPr>
          <a:xfrm>
            <a:off x="10970971" y="5175504"/>
            <a:ext cx="3141878" cy="2889504"/>
          </a:xfrm>
          <a:prstGeom prst="roundRect">
            <a:avLst>
              <a:gd name="adj" fmla="val 443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34" id="134"/>
          <p:cNvSpPr/>
          <p:nvPr/>
        </p:nvSpPr>
        <p:spPr>
          <a:xfrm>
            <a:off x="11245291" y="5549519"/>
            <a:ext cx="475488" cy="475488"/>
          </a:xfrm>
          <a:prstGeom prst="ellipse">
            <a:avLst/>
          </a:prstGeom>
          <a:solidFill>
            <a:srgbClr val="8B5CF6"/>
          </a:solidFill>
        </p:spPr>
        <p:txBody>
          <a:bodyPr/>
          <a:lstStyle/>
          <a:p/>
        </p:txBody>
      </p:sp>
      <p:sp>
        <p:nvSpPr>
          <p:cNvPr name="Text 135" id="135"/>
          <p:cNvSpPr txBox="true"/>
          <p:nvPr/>
        </p:nvSpPr>
        <p:spPr>
          <a:xfrm>
            <a:off x="11245291" y="5654126"/>
            <a:ext cx="475488" cy="285293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4</a:t>
            </a:r>
          </a:p>
        </p:txBody>
      </p:sp>
      <p:sp>
        <p:nvSpPr>
          <p:cNvPr name="Text 136" id="136"/>
          <p:cNvSpPr txBox="true"/>
          <p:nvPr/>
        </p:nvSpPr>
        <p:spPr>
          <a:xfrm>
            <a:off x="11921947" y="5603113"/>
            <a:ext cx="1916582" cy="36830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buNone/>
            </a:pPr>
            <a:r>
              <a:rPr lang="en-US" b="true" sz="25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Diagnose</a:t>
            </a:r>
          </a:p>
        </p:txBody>
      </p:sp>
      <p:sp>
        <p:nvSpPr>
          <p:cNvPr name="Text 137" id="137"/>
          <p:cNvSpPr txBox="true"/>
          <p:nvPr/>
        </p:nvSpPr>
        <p:spPr>
          <a:xfrm>
            <a:off x="11245291" y="6244463"/>
            <a:ext cx="2593238" cy="1473073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278"/>
              </a:lnSpc>
              <a:spcBef>
                <a:spcPts val="0"/>
              </a:spcBef>
              <a:buNone/>
            </a:pPr>
            <a:r>
              <a:rPr lang="en-US" sz="1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Hybrid retrieval over the graph builds an evidence-backed hypothesis. Every claim cites its chunk.</a:t>
            </a:r>
          </a:p>
        </p:txBody>
      </p:sp>
      <p:sp>
        <p:nvSpPr>
          <p:cNvPr name="Card 138" id="138"/>
          <p:cNvSpPr/>
          <p:nvPr/>
        </p:nvSpPr>
        <p:spPr>
          <a:xfrm>
            <a:off x="14368882" y="5175504"/>
            <a:ext cx="3141878" cy="2889504"/>
          </a:xfrm>
          <a:prstGeom prst="roundRect">
            <a:avLst>
              <a:gd name="adj" fmla="val 443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39" id="139"/>
          <p:cNvSpPr/>
          <p:nvPr/>
        </p:nvSpPr>
        <p:spPr>
          <a:xfrm>
            <a:off x="14643202" y="5549519"/>
            <a:ext cx="475488" cy="475488"/>
          </a:xfrm>
          <a:prstGeom prst="ellipse">
            <a:avLst/>
          </a:prstGeom>
          <a:solidFill>
            <a:srgbClr val="8B5CF6"/>
          </a:solidFill>
        </p:spPr>
        <p:txBody>
          <a:bodyPr/>
          <a:lstStyle/>
          <a:p/>
        </p:txBody>
      </p:sp>
      <p:sp>
        <p:nvSpPr>
          <p:cNvPr name="Text 140" id="140"/>
          <p:cNvSpPr txBox="true"/>
          <p:nvPr/>
        </p:nvSpPr>
        <p:spPr>
          <a:xfrm>
            <a:off x="14643202" y="5654126"/>
            <a:ext cx="475488" cy="285293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5</a:t>
            </a:r>
          </a:p>
        </p:txBody>
      </p:sp>
      <p:sp>
        <p:nvSpPr>
          <p:cNvPr name="Text 141" id="141"/>
          <p:cNvSpPr txBox="true"/>
          <p:nvPr/>
        </p:nvSpPr>
        <p:spPr>
          <a:xfrm>
            <a:off x="15319858" y="5603113"/>
            <a:ext cx="1916582" cy="36830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899"/>
              </a:lnSpc>
              <a:spcBef>
                <a:spcPts val="0"/>
              </a:spcBef>
              <a:buNone/>
            </a:pPr>
            <a:r>
              <a:rPr lang="en-US" b="true" sz="25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Act</a:t>
            </a:r>
          </a:p>
        </p:txBody>
      </p:sp>
      <p:sp>
        <p:nvSpPr>
          <p:cNvPr name="Text 142" id="142"/>
          <p:cNvSpPr txBox="true"/>
          <p:nvPr/>
        </p:nvSpPr>
        <p:spPr>
          <a:xfrm>
            <a:off x="14643202" y="6244463"/>
            <a:ext cx="2593238" cy="1473073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278"/>
              </a:lnSpc>
              <a:spcBef>
                <a:spcPts val="0"/>
              </a:spcBef>
              <a:buNone/>
            </a:pPr>
            <a:r>
              <a:rPr lang="en-US" sz="1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Retrieved content is evidence, not authority. Every action clears a policy gate and lands in a hash-chained log.</a:t>
            </a:r>
          </a:p>
        </p:txBody>
      </p:sp>
      <p:sp>
        <p:nvSpPr>
          <p:cNvPr name="Text 143" id="143"/>
          <p:cNvSpPr txBox="true"/>
          <p:nvPr/>
        </p:nvSpPr>
        <p:spPr>
          <a:xfrm>
            <a:off x="3923690" y="6345936"/>
            <a:ext cx="246888" cy="54864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buNone/>
            </a:pPr>
            <a:r>
              <a:rPr lang="en-US" b="true" sz="40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Text 144" id="144"/>
          <p:cNvSpPr txBox="true"/>
          <p:nvPr/>
        </p:nvSpPr>
        <p:spPr>
          <a:xfrm>
            <a:off x="7321601" y="6345936"/>
            <a:ext cx="246888" cy="54864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buNone/>
            </a:pPr>
            <a:r>
              <a:rPr lang="en-US" b="true" sz="40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Text 145" id="145"/>
          <p:cNvSpPr txBox="true"/>
          <p:nvPr/>
        </p:nvSpPr>
        <p:spPr>
          <a:xfrm>
            <a:off x="10719511" y="6345936"/>
            <a:ext cx="246888" cy="54864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buNone/>
            </a:pPr>
            <a:r>
              <a:rPr lang="en-US" b="true" sz="40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Text 146" id="146"/>
          <p:cNvSpPr txBox="true"/>
          <p:nvPr/>
        </p:nvSpPr>
        <p:spPr>
          <a:xfrm>
            <a:off x="14117422" y="6345936"/>
            <a:ext cx="246888" cy="54864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4000"/>
              </a:lnSpc>
              <a:spcBef>
                <a:spcPts val="0"/>
              </a:spcBef>
              <a:buNone/>
            </a:pPr>
            <a:r>
              <a:rPr lang="en-US" b="true" sz="40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Text 147" id="147"/>
          <p:cNvSpPr txBox="true"/>
          <p:nvPr/>
        </p:nvSpPr>
        <p:spPr>
          <a:xfrm>
            <a:off x="777240" y="8138160"/>
            <a:ext cx="16733520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93A4BF"/>
                </a:solidFill>
                <a:latin typeface="Arimo"/>
                <a:ea typeface="Arimo"/>
                <a:cs typeface="Arimo"/>
                <a:sym typeface="Arimo"/>
              </a:rPr>
              <a:t xml:space="preserve">Implements the Sovereign AI pipeline — Data → Knowledge → Memory → Reasoning → Action.</a:t>
            </a:r>
          </a:p>
        </p:txBody>
      </p:sp>
      <p:sp>
        <p:nvSpPr>
          <p:cNvPr name="Card 148" id="148"/>
          <p:cNvSpPr/>
          <p:nvPr/>
        </p:nvSpPr>
        <p:spPr>
          <a:xfrm>
            <a:off x="777240" y="8540496"/>
            <a:ext cx="16733520" cy="713232"/>
          </a:xfrm>
          <a:prstGeom prst="roundRect">
            <a:avLst>
              <a:gd name="adj" fmla="val 17948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49" id="149"/>
          <p:cNvSpPr txBox="true"/>
          <p:nvPr/>
        </p:nvSpPr>
        <p:spPr>
          <a:xfrm>
            <a:off x="1252728" y="8729472"/>
            <a:ext cx="15782544" cy="33528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buNone/>
            </a:pPr>
            <a:r>
              <a:rPr lang="en-US" b="true" sz="20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Expected outcome  ·  </a:t>
            </a:r>
            <a:r>
              <a:rPr lang="en-US" sz="20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the next change opens with its own history attached — what broke last time, which fix failed, and what it cost.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688982"/>
            <a:chOff x="0" y="0"/>
            <a:chExt cx="24384000" cy="12918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918643"/>
            </a:xfrm>
            <a:custGeom>
              <a:avLst/>
              <a:gdLst/>
              <a:ahLst/>
              <a:cxnLst/>
              <a:rect r="r" b="b" t="t" l="l"/>
              <a:pathLst>
                <a:path h="129186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918643"/>
                  </a:lnTo>
                  <a:lnTo>
                    <a:pt x="0" y="12918643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 101" id="101"/>
          <p:cNvSpPr txBox="true"/>
          <p:nvPr/>
        </p:nvSpPr>
        <p:spPr>
          <a:xfrm>
            <a:off x="777240" y="1627632"/>
            <a:ext cx="16733520" cy="7132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5618"/>
              </a:lnSpc>
              <a:spcBef>
                <a:spcPts val="0"/>
              </a:spcBef>
              <a:buNone/>
            </a:pPr>
            <a:r>
              <a:rPr lang="en-US" b="true" sz="53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What makes your idea different?</a:t>
            </a:r>
          </a:p>
        </p:txBody>
      </p:sp>
      <p:sp>
        <p:nvSpPr>
          <p:cNvPr name="Text 102" id="102"/>
          <p:cNvSpPr txBox="true"/>
          <p:nvPr/>
        </p:nvSpPr>
        <p:spPr>
          <a:xfrm>
            <a:off x="777240" y="2523744"/>
            <a:ext cx="16733520" cy="51206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buNone/>
            </a:pPr>
            <a:r>
              <a:rPr lang="en-US" sz="2700">
                <a:solidFill>
                  <a:srgbClr val="C4B5FD"/>
                </a:solidFill>
                <a:latin typeface="Arimo"/>
                <a:ea typeface="Arimo"/>
                <a:cs typeface="Arimo"/>
                <a:sym typeface="Arimo"/>
              </a:rPr>
              <a:t xml:space="preserve">The unit of intelligence is not the document. It is the failure pattern.</a:t>
            </a:r>
          </a:p>
        </p:txBody>
      </p:sp>
      <p:sp>
        <p:nvSpPr>
          <p:cNvPr name="Card 103" id="103"/>
          <p:cNvSpPr/>
          <p:nvPr/>
        </p:nvSpPr>
        <p:spPr>
          <a:xfrm>
            <a:off x="777240" y="3273552"/>
            <a:ext cx="3950208" cy="3611880"/>
          </a:xfrm>
          <a:prstGeom prst="roundRect">
            <a:avLst>
              <a:gd name="adj" fmla="val 354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04" id="104"/>
          <p:cNvSpPr/>
          <p:nvPr/>
        </p:nvSpPr>
        <p:spPr>
          <a:xfrm>
            <a:off x="1161288" y="3707384"/>
            <a:ext cx="530352" cy="530352"/>
          </a:xfrm>
          <a:prstGeom prst="ellipse">
            <a:avLst/>
          </a:prstGeom>
          <a:solidFill>
            <a:srgbClr val="8B5CF6"/>
          </a:solidFill>
        </p:spPr>
        <p:txBody>
          <a:bodyPr/>
          <a:lstStyle/>
          <a:p/>
        </p:txBody>
      </p:sp>
      <p:sp>
        <p:nvSpPr>
          <p:cNvPr name="Text 105" id="105"/>
          <p:cNvSpPr txBox="true"/>
          <p:nvPr/>
        </p:nvSpPr>
        <p:spPr>
          <a:xfrm>
            <a:off x="1161288" y="3824061"/>
            <a:ext cx="530352" cy="318211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01</a:t>
            </a:r>
          </a:p>
        </p:txBody>
      </p:sp>
      <p:sp>
        <p:nvSpPr>
          <p:cNvPr name="Text 106" id="106"/>
          <p:cNvSpPr txBox="true"/>
          <p:nvPr/>
        </p:nvSpPr>
        <p:spPr>
          <a:xfrm>
            <a:off x="1892808" y="3707384"/>
            <a:ext cx="2450592" cy="61874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buNone/>
            </a:pPr>
            <a:r>
              <a:rPr lang="en-US" b="true" sz="21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Recurrence linking, not search</a:t>
            </a:r>
          </a:p>
        </p:txBody>
      </p:sp>
      <p:sp>
        <p:nvSpPr>
          <p:cNvPr name="Text 107" id="107"/>
          <p:cNvSpPr txBox="true"/>
          <p:nvPr/>
        </p:nvSpPr>
        <p:spPr>
          <a:xfrm>
            <a:off x="1161288" y="4545584"/>
            <a:ext cx="3182112" cy="199237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144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Two incidents join a cluster only when three tests agree: embedding similarity over symptom and cause clears a threshold, they share a component in the graph, and an adjudication pass returns a verdict.</a:t>
            </a:r>
          </a:p>
        </p:txBody>
      </p:sp>
      <p:sp>
        <p:nvSpPr>
          <p:cNvPr name="Card 108" id="108"/>
          <p:cNvSpPr/>
          <p:nvPr/>
        </p:nvSpPr>
        <p:spPr>
          <a:xfrm>
            <a:off x="5038344" y="3273552"/>
            <a:ext cx="3950208" cy="3611880"/>
          </a:xfrm>
          <a:prstGeom prst="roundRect">
            <a:avLst>
              <a:gd name="adj" fmla="val 354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09" id="109"/>
          <p:cNvSpPr/>
          <p:nvPr/>
        </p:nvSpPr>
        <p:spPr>
          <a:xfrm>
            <a:off x="5422392" y="3707384"/>
            <a:ext cx="530352" cy="530352"/>
          </a:xfrm>
          <a:prstGeom prst="ellipse">
            <a:avLst/>
          </a:prstGeom>
          <a:solidFill>
            <a:srgbClr val="8B5CF6"/>
          </a:solidFill>
        </p:spPr>
        <p:txBody>
          <a:bodyPr/>
          <a:lstStyle/>
          <a:p/>
        </p:txBody>
      </p:sp>
      <p:sp>
        <p:nvSpPr>
          <p:cNvPr name="Text 110" id="110"/>
          <p:cNvSpPr txBox="true"/>
          <p:nvPr/>
        </p:nvSpPr>
        <p:spPr>
          <a:xfrm>
            <a:off x="5422392" y="3824061"/>
            <a:ext cx="530352" cy="318211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02</a:t>
            </a:r>
          </a:p>
        </p:txBody>
      </p:sp>
      <p:sp>
        <p:nvSpPr>
          <p:cNvPr name="Text 111" id="111"/>
          <p:cNvSpPr txBox="true"/>
          <p:nvPr/>
        </p:nvSpPr>
        <p:spPr>
          <a:xfrm>
            <a:off x="6153912" y="3707384"/>
            <a:ext cx="2450592" cy="61874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buNone/>
            </a:pPr>
            <a:r>
              <a:rPr lang="en-US" b="true" sz="21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It warns before the change</a:t>
            </a:r>
          </a:p>
        </p:txBody>
      </p:sp>
      <p:sp>
        <p:nvSpPr>
          <p:cNvPr name="Text 112" id="112"/>
          <p:cNvSpPr txBox="true"/>
          <p:nvPr/>
        </p:nvSpPr>
        <p:spPr>
          <a:xfrm>
            <a:off x="5422392" y="4545584"/>
            <a:ext cx="3182112" cy="199237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144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Retrospective analysis is easy to ignore. The same lookup runs as a pre-flight check: open a change or a deploy plan and the system matches the components touched against the clusters that own them.</a:t>
            </a:r>
          </a:p>
        </p:txBody>
      </p:sp>
      <p:sp>
        <p:nvSpPr>
          <p:cNvPr name="Card 113" id="113"/>
          <p:cNvSpPr/>
          <p:nvPr/>
        </p:nvSpPr>
        <p:spPr>
          <a:xfrm>
            <a:off x="9299448" y="3273552"/>
            <a:ext cx="3950208" cy="3611880"/>
          </a:xfrm>
          <a:prstGeom prst="roundRect">
            <a:avLst>
              <a:gd name="adj" fmla="val 354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14" id="114"/>
          <p:cNvSpPr/>
          <p:nvPr/>
        </p:nvSpPr>
        <p:spPr>
          <a:xfrm>
            <a:off x="9683496" y="3707384"/>
            <a:ext cx="530352" cy="530352"/>
          </a:xfrm>
          <a:prstGeom prst="ellipse">
            <a:avLst/>
          </a:prstGeom>
          <a:solidFill>
            <a:srgbClr val="8B5CF6"/>
          </a:solidFill>
        </p:spPr>
        <p:txBody>
          <a:bodyPr/>
          <a:lstStyle/>
          <a:p/>
        </p:txBody>
      </p:sp>
      <p:sp>
        <p:nvSpPr>
          <p:cNvPr name="Text 115" id="115"/>
          <p:cNvSpPr txBox="true"/>
          <p:nvPr/>
        </p:nvSpPr>
        <p:spPr>
          <a:xfrm>
            <a:off x="9683496" y="3824061"/>
            <a:ext cx="530352" cy="318211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03</a:t>
            </a:r>
          </a:p>
        </p:txBody>
      </p:sp>
      <p:sp>
        <p:nvSpPr>
          <p:cNvPr name="Text 116" id="116"/>
          <p:cNvSpPr txBox="true"/>
          <p:nvPr/>
        </p:nvSpPr>
        <p:spPr>
          <a:xfrm>
            <a:off x="10415016" y="3707384"/>
            <a:ext cx="2450592" cy="61874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buNone/>
            </a:pPr>
            <a:r>
              <a:rPr lang="en-US" b="true" sz="21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Failure debt becomes a number</a:t>
            </a:r>
          </a:p>
        </p:txBody>
      </p:sp>
      <p:sp>
        <p:nvSpPr>
          <p:cNvPr name="Text 117" id="117"/>
          <p:cNvSpPr txBox="true"/>
          <p:nvPr/>
        </p:nvSpPr>
        <p:spPr>
          <a:xfrm>
            <a:off x="9683496" y="4545584"/>
            <a:ext cx="3182112" cy="199237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144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Recurrence × persistence × impact × cross-team spread, computed over the graph, produces a ranked ledger of unpaid causes. The score is deterministic — the model does not get to decide how much debt exists.</a:t>
            </a:r>
          </a:p>
        </p:txBody>
      </p:sp>
      <p:sp>
        <p:nvSpPr>
          <p:cNvPr name="Card 118" id="118"/>
          <p:cNvSpPr/>
          <p:nvPr/>
        </p:nvSpPr>
        <p:spPr>
          <a:xfrm>
            <a:off x="13560552" y="3273552"/>
            <a:ext cx="3950208" cy="3611880"/>
          </a:xfrm>
          <a:prstGeom prst="roundRect">
            <a:avLst>
              <a:gd name="adj" fmla="val 354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19" id="119"/>
          <p:cNvSpPr/>
          <p:nvPr/>
        </p:nvSpPr>
        <p:spPr>
          <a:xfrm>
            <a:off x="13944600" y="3707384"/>
            <a:ext cx="530352" cy="530352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/>
        </p:txBody>
      </p:sp>
      <p:sp>
        <p:nvSpPr>
          <p:cNvPr name="Text 120" id="120"/>
          <p:cNvSpPr txBox="true"/>
          <p:nvPr/>
        </p:nvSpPr>
        <p:spPr>
          <a:xfrm>
            <a:off x="13944600" y="3824061"/>
            <a:ext cx="530352" cy="318211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04</a:t>
            </a:r>
          </a:p>
        </p:txBody>
      </p:sp>
      <p:sp>
        <p:nvSpPr>
          <p:cNvPr name="Text 121" id="121"/>
          <p:cNvSpPr txBox="true"/>
          <p:nvPr/>
        </p:nvSpPr>
        <p:spPr>
          <a:xfrm>
            <a:off x="14676120" y="3707384"/>
            <a:ext cx="2450592" cy="61874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buNone/>
            </a:pPr>
            <a:r>
              <a:rPr lang="en-US" b="true" sz="21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Every fix is falsifiable</a:t>
            </a:r>
          </a:p>
        </p:txBody>
      </p:sp>
      <p:sp>
        <p:nvSpPr>
          <p:cNvPr name="Text 122" id="122"/>
          <p:cNvSpPr txBox="true"/>
          <p:nvPr/>
        </p:nvSpPr>
        <p:spPr>
          <a:xfrm>
            <a:off x="13944600" y="4545584"/>
            <a:ext cx="3182112" cy="199237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144"/>
              </a:lnSpc>
              <a:spcBef>
                <a:spcPts val="0"/>
              </a:spcBef>
              <a:buNone/>
            </a:pPr>
            <a:r>
              <a:rPr lang="en-US" sz="16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A logged remediation records what it expects to close. Expected outcome, observed outcome, kept or broken. We do not claim certainty about causes — we claim the hypothesis is testable, and then we test it.</a:t>
            </a:r>
          </a:p>
        </p:txBody>
      </p:sp>
      <p:sp>
        <p:nvSpPr>
          <p:cNvPr name="Card 123" id="123"/>
          <p:cNvSpPr/>
          <p:nvPr/>
        </p:nvSpPr>
        <p:spPr>
          <a:xfrm>
            <a:off x="777240" y="7232904"/>
            <a:ext cx="5120640" cy="2020824"/>
          </a:xfrm>
          <a:prstGeom prst="roundRect">
            <a:avLst>
              <a:gd name="adj" fmla="val 6334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24" id="124"/>
          <p:cNvSpPr txBox="true"/>
          <p:nvPr/>
        </p:nvSpPr>
        <p:spPr>
          <a:xfrm>
            <a:off x="1161288" y="7507224"/>
            <a:ext cx="4352544" cy="23774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buNone/>
            </a:pPr>
            <a:r>
              <a:rPr lang="en-US" b="true" sz="1500" spc="20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CONVENTIONAL AI</a:t>
            </a:r>
          </a:p>
        </p:txBody>
      </p:sp>
      <p:sp>
        <p:nvSpPr>
          <p:cNvPr name="Card 125" id="125"/>
          <p:cNvSpPr/>
          <p:nvPr/>
        </p:nvSpPr>
        <p:spPr>
          <a:xfrm>
            <a:off x="1161288" y="7927848"/>
            <a:ext cx="1280160" cy="53035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26" id="126"/>
          <p:cNvSpPr txBox="true"/>
          <p:nvPr/>
        </p:nvSpPr>
        <p:spPr>
          <a:xfrm>
            <a:off x="1271016" y="8088122"/>
            <a:ext cx="1060704" cy="2098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buNone/>
            </a:pPr>
            <a:r>
              <a:rPr lang="en-US" b="true" sz="140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Question</a:t>
            </a:r>
          </a:p>
        </p:txBody>
      </p:sp>
      <p:sp>
        <p:nvSpPr>
          <p:cNvPr name="Text 127" id="127"/>
          <p:cNvSpPr txBox="true"/>
          <p:nvPr/>
        </p:nvSpPr>
        <p:spPr>
          <a:xfrm>
            <a:off x="2441448" y="8019288"/>
            <a:ext cx="256032" cy="31089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buNone/>
            </a:pPr>
            <a:r>
              <a:rPr lang="en-US" b="true" sz="220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28" id="128"/>
          <p:cNvSpPr/>
          <p:nvPr/>
        </p:nvSpPr>
        <p:spPr>
          <a:xfrm>
            <a:off x="2697480" y="7927848"/>
            <a:ext cx="1280160" cy="53035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29" id="129"/>
          <p:cNvSpPr txBox="true"/>
          <p:nvPr/>
        </p:nvSpPr>
        <p:spPr>
          <a:xfrm>
            <a:off x="2807208" y="8088122"/>
            <a:ext cx="1060704" cy="2098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buNone/>
            </a:pPr>
            <a:r>
              <a:rPr lang="en-US" b="true" sz="140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Retrieve</a:t>
            </a:r>
          </a:p>
        </p:txBody>
      </p:sp>
      <p:sp>
        <p:nvSpPr>
          <p:cNvPr name="Text 130" id="130"/>
          <p:cNvSpPr txBox="true"/>
          <p:nvPr/>
        </p:nvSpPr>
        <p:spPr>
          <a:xfrm>
            <a:off x="3977640" y="8019288"/>
            <a:ext cx="256032" cy="31089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buNone/>
            </a:pPr>
            <a:r>
              <a:rPr lang="en-US" b="true" sz="220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31" id="131"/>
          <p:cNvSpPr/>
          <p:nvPr/>
        </p:nvSpPr>
        <p:spPr>
          <a:xfrm>
            <a:off x="4233672" y="7927848"/>
            <a:ext cx="1280160" cy="53035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32" id="132"/>
          <p:cNvSpPr txBox="true"/>
          <p:nvPr/>
        </p:nvSpPr>
        <p:spPr>
          <a:xfrm>
            <a:off x="4343400" y="8088122"/>
            <a:ext cx="1060704" cy="2098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buNone/>
            </a:pPr>
            <a:r>
              <a:rPr lang="en-US" b="true" sz="140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Answer</a:t>
            </a:r>
          </a:p>
        </p:txBody>
      </p:sp>
      <p:sp>
        <p:nvSpPr>
          <p:cNvPr name="Text 133" id="133"/>
          <p:cNvSpPr txBox="true"/>
          <p:nvPr/>
        </p:nvSpPr>
        <p:spPr>
          <a:xfrm>
            <a:off x="1161288" y="8659368"/>
            <a:ext cx="4352544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93A4BF"/>
                </a:solidFill>
                <a:latin typeface="Arimo"/>
                <a:ea typeface="Arimo"/>
                <a:cs typeface="Arimo"/>
                <a:sym typeface="Arimo"/>
              </a:rPr>
              <a:t xml:space="preserve">— and stops there.</a:t>
            </a:r>
          </a:p>
        </p:txBody>
      </p:sp>
      <p:sp>
        <p:nvSpPr>
          <p:cNvPr name="Card 134" id="134"/>
          <p:cNvSpPr/>
          <p:nvPr/>
        </p:nvSpPr>
        <p:spPr>
          <a:xfrm>
            <a:off x="6263640" y="7232904"/>
            <a:ext cx="11247120" cy="2020824"/>
          </a:xfrm>
          <a:prstGeom prst="roundRect">
            <a:avLst>
              <a:gd name="adj" fmla="val 6334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35" id="135"/>
          <p:cNvSpPr txBox="true"/>
          <p:nvPr/>
        </p:nvSpPr>
        <p:spPr>
          <a:xfrm>
            <a:off x="6647688" y="7507224"/>
            <a:ext cx="10479024" cy="23774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buNone/>
            </a:pPr>
            <a:r>
              <a:rPr lang="en-US" b="true" sz="1500" spc="2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ROOT CAUSE</a:t>
            </a:r>
          </a:p>
        </p:txBody>
      </p:sp>
      <p:sp>
        <p:nvSpPr>
          <p:cNvPr name="Card 136" id="136"/>
          <p:cNvSpPr/>
          <p:nvPr/>
        </p:nvSpPr>
        <p:spPr>
          <a:xfrm>
            <a:off x="6647688" y="7927848"/>
            <a:ext cx="2455164" cy="53035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37" id="137"/>
          <p:cNvSpPr txBox="true"/>
          <p:nvPr/>
        </p:nvSpPr>
        <p:spPr>
          <a:xfrm>
            <a:off x="6757416" y="8088122"/>
            <a:ext cx="2235708" cy="2098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buNone/>
            </a:pPr>
            <a:r>
              <a:rPr lang="en-US" b="true" sz="14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Observe</a:t>
            </a:r>
          </a:p>
        </p:txBody>
      </p:sp>
      <p:sp>
        <p:nvSpPr>
          <p:cNvPr name="Text 138" id="138"/>
          <p:cNvSpPr txBox="true"/>
          <p:nvPr/>
        </p:nvSpPr>
        <p:spPr>
          <a:xfrm>
            <a:off x="9102852" y="8019288"/>
            <a:ext cx="219456" cy="31089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buNone/>
            </a:pPr>
            <a:r>
              <a:rPr lang="en-US" b="true" sz="22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39" id="139"/>
          <p:cNvSpPr/>
          <p:nvPr/>
        </p:nvSpPr>
        <p:spPr>
          <a:xfrm>
            <a:off x="9322308" y="7927848"/>
            <a:ext cx="2455164" cy="53035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40" id="140"/>
          <p:cNvSpPr txBox="true"/>
          <p:nvPr/>
        </p:nvSpPr>
        <p:spPr>
          <a:xfrm>
            <a:off x="9432036" y="8088122"/>
            <a:ext cx="2235708" cy="2098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buNone/>
            </a:pPr>
            <a:r>
              <a:rPr lang="en-US" b="true" sz="14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Connect</a:t>
            </a:r>
          </a:p>
        </p:txBody>
      </p:sp>
      <p:sp>
        <p:nvSpPr>
          <p:cNvPr name="Text 141" id="141"/>
          <p:cNvSpPr txBox="true"/>
          <p:nvPr/>
        </p:nvSpPr>
        <p:spPr>
          <a:xfrm>
            <a:off x="11777472" y="8019288"/>
            <a:ext cx="219456" cy="31089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buNone/>
            </a:pPr>
            <a:r>
              <a:rPr lang="en-US" b="true" sz="22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42" id="142"/>
          <p:cNvSpPr/>
          <p:nvPr/>
        </p:nvSpPr>
        <p:spPr>
          <a:xfrm>
            <a:off x="11996928" y="7927848"/>
            <a:ext cx="2455164" cy="53035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43" id="143"/>
          <p:cNvSpPr txBox="true"/>
          <p:nvPr/>
        </p:nvSpPr>
        <p:spPr>
          <a:xfrm>
            <a:off x="12106656" y="8088122"/>
            <a:ext cx="2235708" cy="2098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buNone/>
            </a:pPr>
            <a:r>
              <a:rPr lang="en-US" b="true" sz="14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Detect recurrence</a:t>
            </a:r>
          </a:p>
        </p:txBody>
      </p:sp>
      <p:sp>
        <p:nvSpPr>
          <p:cNvPr name="Text 144" id="144"/>
          <p:cNvSpPr txBox="true"/>
          <p:nvPr/>
        </p:nvSpPr>
        <p:spPr>
          <a:xfrm>
            <a:off x="14452092" y="8019288"/>
            <a:ext cx="219456" cy="31089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buNone/>
            </a:pPr>
            <a:r>
              <a:rPr lang="en-US" b="true" sz="22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45" id="145"/>
          <p:cNvSpPr/>
          <p:nvPr/>
        </p:nvSpPr>
        <p:spPr>
          <a:xfrm>
            <a:off x="14671548" y="7927848"/>
            <a:ext cx="2455164" cy="53035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46" id="146"/>
          <p:cNvSpPr txBox="true"/>
          <p:nvPr/>
        </p:nvSpPr>
        <p:spPr>
          <a:xfrm>
            <a:off x="14781276" y="8088122"/>
            <a:ext cx="2235708" cy="2098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buNone/>
            </a:pPr>
            <a:r>
              <a:rPr lang="en-US" b="true" sz="14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Explain cause</a:t>
            </a:r>
          </a:p>
        </p:txBody>
      </p:sp>
      <p:sp>
        <p:nvSpPr>
          <p:cNvPr name="Card 147" id="147"/>
          <p:cNvSpPr/>
          <p:nvPr/>
        </p:nvSpPr>
        <p:spPr>
          <a:xfrm>
            <a:off x="6647688" y="8549640"/>
            <a:ext cx="2455164" cy="53035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48" id="148"/>
          <p:cNvSpPr txBox="true"/>
          <p:nvPr/>
        </p:nvSpPr>
        <p:spPr>
          <a:xfrm>
            <a:off x="6757416" y="8709914"/>
            <a:ext cx="2235708" cy="2098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buNone/>
            </a:pPr>
            <a:r>
              <a:rPr lang="en-US" b="true" sz="14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Measure debt</a:t>
            </a:r>
          </a:p>
        </p:txBody>
      </p:sp>
      <p:sp>
        <p:nvSpPr>
          <p:cNvPr name="Text 149" id="149"/>
          <p:cNvSpPr txBox="true"/>
          <p:nvPr/>
        </p:nvSpPr>
        <p:spPr>
          <a:xfrm>
            <a:off x="9102852" y="8641080"/>
            <a:ext cx="219456" cy="31089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buNone/>
            </a:pPr>
            <a:r>
              <a:rPr lang="en-US" b="true" sz="22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50" id="150"/>
          <p:cNvSpPr/>
          <p:nvPr/>
        </p:nvSpPr>
        <p:spPr>
          <a:xfrm>
            <a:off x="9322308" y="8549640"/>
            <a:ext cx="2455164" cy="53035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51" id="151"/>
          <p:cNvSpPr txBox="true"/>
          <p:nvPr/>
        </p:nvSpPr>
        <p:spPr>
          <a:xfrm>
            <a:off x="9432036" y="8709914"/>
            <a:ext cx="2235708" cy="2098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buNone/>
            </a:pPr>
            <a:r>
              <a:rPr lang="en-US" b="true" sz="14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Propose fix</a:t>
            </a:r>
          </a:p>
        </p:txBody>
      </p:sp>
      <p:sp>
        <p:nvSpPr>
          <p:cNvPr name="Text 152" id="152"/>
          <p:cNvSpPr txBox="true"/>
          <p:nvPr/>
        </p:nvSpPr>
        <p:spPr>
          <a:xfrm>
            <a:off x="11777472" y="8641080"/>
            <a:ext cx="219456" cy="31089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buNone/>
            </a:pPr>
            <a:r>
              <a:rPr lang="en-US" b="true" sz="22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53" id="153"/>
          <p:cNvSpPr/>
          <p:nvPr/>
        </p:nvSpPr>
        <p:spPr>
          <a:xfrm>
            <a:off x="11996928" y="8549640"/>
            <a:ext cx="2455164" cy="53035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54" id="154"/>
          <p:cNvSpPr txBox="true"/>
          <p:nvPr/>
        </p:nvSpPr>
        <p:spPr>
          <a:xfrm>
            <a:off x="12106656" y="8709914"/>
            <a:ext cx="2235708" cy="2098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buNone/>
            </a:pPr>
            <a:r>
              <a:rPr lang="en-US" b="true" sz="14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Govern action</a:t>
            </a:r>
          </a:p>
        </p:txBody>
      </p:sp>
      <p:sp>
        <p:nvSpPr>
          <p:cNvPr name="Text 155" id="155"/>
          <p:cNvSpPr txBox="true"/>
          <p:nvPr/>
        </p:nvSpPr>
        <p:spPr>
          <a:xfrm>
            <a:off x="14452092" y="8641080"/>
            <a:ext cx="219456" cy="31089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2200"/>
              </a:lnSpc>
              <a:spcBef>
                <a:spcPts val="0"/>
              </a:spcBef>
              <a:buNone/>
            </a:pPr>
            <a:r>
              <a:rPr lang="en-US" b="true" sz="22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›</a:t>
            </a:r>
          </a:p>
        </p:txBody>
      </p:sp>
      <p:sp>
        <p:nvSpPr>
          <p:cNvPr name="Card 156" id="156"/>
          <p:cNvSpPr/>
          <p:nvPr/>
        </p:nvSpPr>
        <p:spPr>
          <a:xfrm>
            <a:off x="14671548" y="8549640"/>
            <a:ext cx="2455164" cy="530352"/>
          </a:xfrm>
          <a:prstGeom prst="roundRect">
            <a:avLst>
              <a:gd name="adj" fmla="val 38461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57" id="157"/>
          <p:cNvSpPr txBox="true"/>
          <p:nvPr/>
        </p:nvSpPr>
        <p:spPr>
          <a:xfrm>
            <a:off x="14781276" y="8709914"/>
            <a:ext cx="2235708" cy="2098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652"/>
              </a:lnSpc>
              <a:spcBef>
                <a:spcPts val="0"/>
              </a:spcBef>
              <a:buNone/>
            </a:pPr>
            <a:r>
              <a:rPr lang="en-US" b="true" sz="1400">
                <a:solidFill>
                  <a:srgbClr val="34D399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Verify outcome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688982"/>
            <a:chOff x="0" y="0"/>
            <a:chExt cx="24384000" cy="12918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918643"/>
            </a:xfrm>
            <a:custGeom>
              <a:avLst/>
              <a:gdLst/>
              <a:ahLst/>
              <a:cxnLst/>
              <a:rect r="r" b="b" t="t" l="l"/>
              <a:pathLst>
                <a:path h="129186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918643"/>
                  </a:lnTo>
                  <a:lnTo>
                    <a:pt x="0" y="12918643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 101" id="101"/>
          <p:cNvSpPr txBox="true"/>
          <p:nvPr/>
        </p:nvSpPr>
        <p:spPr>
          <a:xfrm>
            <a:off x="777240" y="1627632"/>
            <a:ext cx="16733520" cy="7132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5618"/>
              </a:lnSpc>
              <a:spcBef>
                <a:spcPts val="0"/>
              </a:spcBef>
              <a:buNone/>
            </a:pPr>
            <a:r>
              <a:rPr lang="en-US" b="true" sz="53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Can you build it?</a:t>
            </a:r>
          </a:p>
        </p:txBody>
      </p:sp>
      <p:sp>
        <p:nvSpPr>
          <p:cNvPr name="Text 102" id="102"/>
          <p:cNvSpPr txBox="true"/>
          <p:nvPr/>
        </p:nvSpPr>
        <p:spPr>
          <a:xfrm>
            <a:off x="777240" y="2523744"/>
            <a:ext cx="16733520" cy="51206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buNone/>
            </a:pPr>
            <a:r>
              <a:rPr lang="en-US" sz="2700">
                <a:solidFill>
                  <a:srgbClr val="C4B5FD"/>
                </a:solidFill>
                <a:latin typeface="Arimo"/>
                <a:ea typeface="Arimo"/>
                <a:cs typeface="Arimo"/>
                <a:sym typeface="Arimo"/>
              </a:rPr>
              <a:t xml:space="preserve">Built and working: one RTX 3050 laptop, no internet, 13 automated tests passing.</a:t>
            </a:r>
          </a:p>
        </p:txBody>
      </p:sp>
      <p:sp>
        <p:nvSpPr>
          <p:cNvPr name="Card 103" id="103"/>
          <p:cNvSpPr/>
          <p:nvPr/>
        </p:nvSpPr>
        <p:spPr>
          <a:xfrm>
            <a:off x="777240" y="3273552"/>
            <a:ext cx="2621280" cy="2331720"/>
          </a:xfrm>
          <a:prstGeom prst="roundRect">
            <a:avLst>
              <a:gd name="adj" fmla="val 549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04" id="104"/>
          <p:cNvSpPr txBox="true"/>
          <p:nvPr/>
        </p:nvSpPr>
        <p:spPr>
          <a:xfrm>
            <a:off x="1033272" y="3584448"/>
            <a:ext cx="2109216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b="true" sz="1600" spc="2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INGEST</a:t>
            </a:r>
          </a:p>
        </p:txBody>
      </p:sp>
      <p:sp>
        <p:nvSpPr>
          <p:cNvPr name="Text 105" id="105"/>
          <p:cNvSpPr txBox="true"/>
          <p:nvPr/>
        </p:nvSpPr>
        <p:spPr>
          <a:xfrm>
            <a:off x="1033272" y="3968496"/>
            <a:ext cx="2109216" cy="121158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watchdog daemon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frontmatter parser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section chunker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injection scanner</a:t>
            </a:r>
          </a:p>
        </p:txBody>
      </p:sp>
      <p:sp>
        <p:nvSpPr>
          <p:cNvPr name="Card 106" id="106"/>
          <p:cNvSpPr/>
          <p:nvPr/>
        </p:nvSpPr>
        <p:spPr>
          <a:xfrm>
            <a:off x="3599688" y="3273552"/>
            <a:ext cx="2621280" cy="2331720"/>
          </a:xfrm>
          <a:prstGeom prst="roundRect">
            <a:avLst>
              <a:gd name="adj" fmla="val 549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07" id="107"/>
          <p:cNvSpPr txBox="true"/>
          <p:nvPr/>
        </p:nvSpPr>
        <p:spPr>
          <a:xfrm>
            <a:off x="3855720" y="3584448"/>
            <a:ext cx="2109216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b="true" sz="1600" spc="2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STORE</a:t>
            </a:r>
          </a:p>
        </p:txBody>
      </p:sp>
      <p:sp>
        <p:nvSpPr>
          <p:cNvPr name="Text 108" id="108"/>
          <p:cNvSpPr txBox="true"/>
          <p:nvPr/>
        </p:nvSpPr>
        <p:spPr>
          <a:xfrm>
            <a:off x="3855720" y="3968496"/>
            <a:ext cx="2109216" cy="121158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SQLite + FTS5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vector store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bi-temporal schema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Postgres-ready</a:t>
            </a:r>
          </a:p>
        </p:txBody>
      </p:sp>
      <p:sp>
        <p:nvSpPr>
          <p:cNvPr name="Card 109" id="109"/>
          <p:cNvSpPr/>
          <p:nvPr/>
        </p:nvSpPr>
        <p:spPr>
          <a:xfrm>
            <a:off x="6422136" y="3273552"/>
            <a:ext cx="2621280" cy="2331720"/>
          </a:xfrm>
          <a:prstGeom prst="roundRect">
            <a:avLst>
              <a:gd name="adj" fmla="val 549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0" id="110"/>
          <p:cNvSpPr txBox="true"/>
          <p:nvPr/>
        </p:nvSpPr>
        <p:spPr>
          <a:xfrm>
            <a:off x="6678168" y="3584448"/>
            <a:ext cx="2109216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b="true" sz="1600" spc="2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RETRIEVE</a:t>
            </a:r>
          </a:p>
        </p:txBody>
      </p:sp>
      <p:sp>
        <p:nvSpPr>
          <p:cNvPr name="Text 111" id="111"/>
          <p:cNvSpPr txBox="true"/>
          <p:nvPr/>
        </p:nvSpPr>
        <p:spPr>
          <a:xfrm>
            <a:off x="6678168" y="3968496"/>
            <a:ext cx="2109216" cy="121158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reciprocal rank fusion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vector + keyword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centroid ranking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evidence selection</a:t>
            </a:r>
          </a:p>
        </p:txBody>
      </p:sp>
      <p:sp>
        <p:nvSpPr>
          <p:cNvPr name="Card 112" id="112"/>
          <p:cNvSpPr/>
          <p:nvPr/>
        </p:nvSpPr>
        <p:spPr>
          <a:xfrm>
            <a:off x="9244584" y="3273552"/>
            <a:ext cx="2621280" cy="2331720"/>
          </a:xfrm>
          <a:prstGeom prst="roundRect">
            <a:avLst>
              <a:gd name="adj" fmla="val 549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3" id="113"/>
          <p:cNvSpPr txBox="true"/>
          <p:nvPr/>
        </p:nvSpPr>
        <p:spPr>
          <a:xfrm>
            <a:off x="9500616" y="3584448"/>
            <a:ext cx="2109216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b="true" sz="1600" spc="2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REASON</a:t>
            </a:r>
          </a:p>
        </p:txBody>
      </p:sp>
      <p:sp>
        <p:nvSpPr>
          <p:cNvPr name="Text 114" id="114"/>
          <p:cNvSpPr txBox="true"/>
          <p:nvPr/>
        </p:nvSpPr>
        <p:spPr>
          <a:xfrm>
            <a:off x="9500616" y="3968496"/>
            <a:ext cx="2109216" cy="121158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Ollama + CUDA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Llama 3.2 3B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nomic-embed-text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hybrid judge</a:t>
            </a:r>
          </a:p>
        </p:txBody>
      </p:sp>
      <p:sp>
        <p:nvSpPr>
          <p:cNvPr name="Card 115" id="115"/>
          <p:cNvSpPr/>
          <p:nvPr/>
        </p:nvSpPr>
        <p:spPr>
          <a:xfrm>
            <a:off x="12067032" y="3273552"/>
            <a:ext cx="2621280" cy="2331720"/>
          </a:xfrm>
          <a:prstGeom prst="roundRect">
            <a:avLst>
              <a:gd name="adj" fmla="val 549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6" id="116"/>
          <p:cNvSpPr txBox="true"/>
          <p:nvPr/>
        </p:nvSpPr>
        <p:spPr>
          <a:xfrm>
            <a:off x="12323064" y="3584448"/>
            <a:ext cx="2109216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b="true" sz="1600" spc="2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SCORE</a:t>
            </a:r>
          </a:p>
        </p:txBody>
      </p:sp>
      <p:sp>
        <p:nvSpPr>
          <p:cNvPr name="Text 117" id="117"/>
          <p:cNvSpPr txBox="true"/>
          <p:nvPr/>
        </p:nvSpPr>
        <p:spPr>
          <a:xfrm>
            <a:off x="12323064" y="3968496"/>
            <a:ext cx="2109216" cy="121158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cluster debt model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fix effectiveness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prediction ledger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calibration report</a:t>
            </a:r>
          </a:p>
        </p:txBody>
      </p:sp>
      <p:sp>
        <p:nvSpPr>
          <p:cNvPr name="Card 118" id="118"/>
          <p:cNvSpPr/>
          <p:nvPr/>
        </p:nvSpPr>
        <p:spPr>
          <a:xfrm>
            <a:off x="14889480" y="3273552"/>
            <a:ext cx="2621280" cy="2331720"/>
          </a:xfrm>
          <a:prstGeom prst="roundRect">
            <a:avLst>
              <a:gd name="adj" fmla="val 549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9" id="119"/>
          <p:cNvSpPr txBox="true"/>
          <p:nvPr/>
        </p:nvSpPr>
        <p:spPr>
          <a:xfrm>
            <a:off x="15145512" y="3584448"/>
            <a:ext cx="2109216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b="true" sz="1600" spc="2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ACT &amp; PROVE</a:t>
            </a:r>
          </a:p>
        </p:txBody>
      </p:sp>
      <p:sp>
        <p:nvSpPr>
          <p:cNvPr name="Text 120" id="120"/>
          <p:cNvSpPr txBox="true"/>
          <p:nvPr/>
        </p:nvSpPr>
        <p:spPr>
          <a:xfrm>
            <a:off x="15145512" y="3968496"/>
            <a:ext cx="2109216" cy="121158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MCP server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policy gate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SHA-256 chain</a:t>
            </a:r>
          </a:p>
          <a:p>
            <a:pPr algn="l">
              <a:lnSpc>
                <a:spcPts val="1860"/>
              </a:lnSpc>
              <a:spcBef>
                <a:spcPts val="7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egress monitor</a:t>
            </a:r>
          </a:p>
        </p:txBody>
      </p:sp>
      <p:sp>
        <p:nvSpPr>
          <p:cNvPr name="Card 121" id="121"/>
          <p:cNvSpPr/>
          <p:nvPr/>
        </p:nvSpPr>
        <p:spPr>
          <a:xfrm>
            <a:off x="777240" y="5952744"/>
            <a:ext cx="5333695" cy="3300984"/>
          </a:xfrm>
          <a:prstGeom prst="roundRect">
            <a:avLst>
              <a:gd name="adj" fmla="val 3878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22" id="122"/>
          <p:cNvSpPr txBox="true"/>
          <p:nvPr/>
        </p:nvSpPr>
        <p:spPr>
          <a:xfrm>
            <a:off x="1161288" y="6263640"/>
            <a:ext cx="4565599" cy="36576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buNone/>
            </a:pPr>
            <a:r>
              <a:rPr lang="en-US" b="true" sz="24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One box, no egress</a:t>
            </a:r>
          </a:p>
        </p:txBody>
      </p:sp>
      <p:sp>
        <p:nvSpPr>
          <p:cNvPr name="Card 123" id="123"/>
          <p:cNvSpPr/>
          <p:nvPr/>
        </p:nvSpPr>
        <p:spPr>
          <a:xfrm>
            <a:off x="1051560" y="6793992"/>
            <a:ext cx="4785055" cy="1591056"/>
          </a:xfrm>
          <a:prstGeom prst="roundRect">
            <a:avLst>
              <a:gd name="adj" fmla="val 8045"/>
            </a:avLst>
          </a:prstGeom>
          <a:solidFill>
            <a:srgbClr val="1B2437"/>
          </a:solidFill>
          <a:ln w="15875" cap="flat">
            <a:solidFill>
              <a:srgbClr val="8B5CF6"/>
            </a:solidFill>
          </a:ln>
        </p:spPr>
        <p:txBody>
          <a:bodyPr/>
          <a:lstStyle/>
          <a:p/>
        </p:txBody>
      </p:sp>
      <p:sp>
        <p:nvSpPr>
          <p:cNvPr name="Text 124" id="124"/>
          <p:cNvSpPr txBox="true"/>
          <p:nvPr/>
        </p:nvSpPr>
        <p:spPr>
          <a:xfrm>
            <a:off x="1271016" y="6976872"/>
            <a:ext cx="4346143" cy="201168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buNone/>
            </a:pPr>
            <a:r>
              <a:rPr lang="en-US" b="true" sz="1200" spc="140">
                <a:solidFill>
                  <a:srgbClr val="93A4B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TEAM PREMISES  ·  RYZEN 5 6600  ·  RTX 3050</a:t>
            </a:r>
          </a:p>
        </p:txBody>
      </p:sp>
      <p:sp>
        <p:nvSpPr>
          <p:cNvPr name="Card 125" id="125"/>
          <p:cNvSpPr/>
          <p:nvPr/>
        </p:nvSpPr>
        <p:spPr>
          <a:xfrm>
            <a:off x="1271016" y="7306056"/>
            <a:ext cx="2090776" cy="420624"/>
          </a:xfrm>
          <a:prstGeom prst="roundRect">
            <a:avLst>
              <a:gd name="adj" fmla="val 38461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26" id="126"/>
          <p:cNvSpPr txBox="true"/>
          <p:nvPr/>
        </p:nvSpPr>
        <p:spPr>
          <a:xfrm>
            <a:off x="1380744" y="7418959"/>
            <a:ext cx="1871320" cy="194818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534"/>
              </a:lnSpc>
              <a:spcBef>
                <a:spcPts val="0"/>
              </a:spcBef>
              <a:buNone/>
            </a:pPr>
            <a:r>
              <a:rPr lang="en-US" b="true" sz="13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Ollama · Llama 3.2 3B</a:t>
            </a:r>
          </a:p>
        </p:txBody>
      </p:sp>
      <p:sp>
        <p:nvSpPr>
          <p:cNvPr name="Card 127" id="127"/>
          <p:cNvSpPr/>
          <p:nvPr/>
        </p:nvSpPr>
        <p:spPr>
          <a:xfrm>
            <a:off x="3526384" y="7306056"/>
            <a:ext cx="2090776" cy="420624"/>
          </a:xfrm>
          <a:prstGeom prst="roundRect">
            <a:avLst>
              <a:gd name="adj" fmla="val 38461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28" id="128"/>
          <p:cNvSpPr txBox="true"/>
          <p:nvPr/>
        </p:nvSpPr>
        <p:spPr>
          <a:xfrm>
            <a:off x="3636112" y="7321550"/>
            <a:ext cx="1871320" cy="38963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534"/>
              </a:lnSpc>
              <a:spcBef>
                <a:spcPts val="0"/>
              </a:spcBef>
              <a:buNone/>
            </a:pPr>
            <a:r>
              <a:rPr lang="en-US" b="true" sz="13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SQLite + vectors + FTS5</a:t>
            </a:r>
          </a:p>
        </p:txBody>
      </p:sp>
      <p:sp>
        <p:nvSpPr>
          <p:cNvPr name="Card 129" id="129"/>
          <p:cNvSpPr/>
          <p:nvPr/>
        </p:nvSpPr>
        <p:spPr>
          <a:xfrm>
            <a:off x="1271016" y="7799832"/>
            <a:ext cx="2090776" cy="420624"/>
          </a:xfrm>
          <a:prstGeom prst="roundRect">
            <a:avLst>
              <a:gd name="adj" fmla="val 38461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30" id="130"/>
          <p:cNvSpPr txBox="true"/>
          <p:nvPr/>
        </p:nvSpPr>
        <p:spPr>
          <a:xfrm>
            <a:off x="1380744" y="7912735"/>
            <a:ext cx="1871320" cy="194818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534"/>
              </a:lnSpc>
              <a:spcBef>
                <a:spcPts val="0"/>
              </a:spcBef>
              <a:buNone/>
            </a:pPr>
            <a:r>
              <a:rPr lang="en-US" b="true" sz="13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MCP + policy gate</a:t>
            </a:r>
          </a:p>
        </p:txBody>
      </p:sp>
      <p:sp>
        <p:nvSpPr>
          <p:cNvPr name="Card 131" id="131"/>
          <p:cNvSpPr/>
          <p:nvPr/>
        </p:nvSpPr>
        <p:spPr>
          <a:xfrm>
            <a:off x="3526384" y="7799832"/>
            <a:ext cx="2090776" cy="420624"/>
          </a:xfrm>
          <a:prstGeom prst="roundRect">
            <a:avLst>
              <a:gd name="adj" fmla="val 38461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32" id="132"/>
          <p:cNvSpPr txBox="true"/>
          <p:nvPr/>
        </p:nvSpPr>
        <p:spPr>
          <a:xfrm>
            <a:off x="3636112" y="7912735"/>
            <a:ext cx="1871320" cy="194818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534"/>
              </a:lnSpc>
              <a:spcBef>
                <a:spcPts val="0"/>
              </a:spcBef>
              <a:buNone/>
            </a:pPr>
            <a:r>
              <a:rPr lang="en-US" b="true" sz="13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Web console · FastAPI</a:t>
            </a:r>
          </a:p>
        </p:txBody>
      </p:sp>
      <p:sp>
        <p:nvSpPr>
          <p:cNvPr name="Shape 133" id="133"/>
          <p:cNvSpPr/>
          <p:nvPr/>
        </p:nvSpPr>
        <p:spPr>
          <a:xfrm>
            <a:off x="1051560" y="8567928"/>
            <a:ext cx="1554480" cy="237744"/>
          </a:xfrm>
          <a:prstGeom prst="rightArrow">
            <a:avLst>
              <a:gd name="adj1" fmla="val 55000"/>
              <a:gd name="adj2" fmla="val 12000"/>
            </a:avLst>
          </a:prstGeom>
          <a:solidFill>
            <a:srgbClr val="F87171"/>
          </a:solidFill>
        </p:spPr>
        <p:txBody>
          <a:bodyPr/>
          <a:lstStyle/>
          <a:p/>
        </p:txBody>
      </p:sp>
      <p:sp>
        <p:nvSpPr>
          <p:cNvPr name="Text 134" id="134"/>
          <p:cNvSpPr txBox="true"/>
          <p:nvPr/>
        </p:nvSpPr>
        <p:spPr>
          <a:xfrm>
            <a:off x="2752344" y="8476488"/>
            <a:ext cx="914400" cy="384048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buNone/>
            </a:pPr>
            <a:r>
              <a:rPr lang="en-US" b="true" sz="3000">
                <a:solidFill>
                  <a:srgbClr val="F87171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×</a:t>
            </a:r>
          </a:p>
        </p:txBody>
      </p:sp>
      <p:sp>
        <p:nvSpPr>
          <p:cNvPr name="Text 135" id="135"/>
          <p:cNvSpPr txBox="true"/>
          <p:nvPr/>
        </p:nvSpPr>
        <p:spPr>
          <a:xfrm>
            <a:off x="3520440" y="8513064"/>
            <a:ext cx="2316175" cy="27432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93A4BF"/>
                </a:solidFill>
                <a:latin typeface="Arimo"/>
                <a:ea typeface="Arimo"/>
                <a:cs typeface="Arimo"/>
                <a:sym typeface="Arimo"/>
              </a:rPr>
              <a:t xml:space="preserve">internet / hosted model</a:t>
            </a:r>
          </a:p>
        </p:txBody>
      </p:sp>
      <p:sp>
        <p:nvSpPr>
          <p:cNvPr name="Text 136" id="136"/>
          <p:cNvSpPr txBox="true"/>
          <p:nvPr/>
        </p:nvSpPr>
        <p:spPr>
          <a:xfrm>
            <a:off x="1051560" y="8933688"/>
            <a:ext cx="4785055" cy="23774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buNone/>
            </a:pPr>
            <a:r>
              <a:rPr lang="en-US" sz="1400">
                <a:solidFill>
                  <a:srgbClr val="93A4BF"/>
                </a:solidFill>
                <a:latin typeface="Arimo"/>
                <a:ea typeface="Arimo"/>
                <a:cs typeface="Arimo"/>
                <a:sym typeface="Arimo"/>
              </a:rPr>
              <a:t xml:space="preserve">Chat model and embeddings both resident on the GPU</a:t>
            </a:r>
          </a:p>
        </p:txBody>
      </p:sp>
      <p:sp>
        <p:nvSpPr>
          <p:cNvPr name="Card 137" id="137"/>
          <p:cNvSpPr/>
          <p:nvPr/>
        </p:nvSpPr>
        <p:spPr>
          <a:xfrm>
            <a:off x="6476695" y="5952744"/>
            <a:ext cx="5334152" cy="3300984"/>
          </a:xfrm>
          <a:prstGeom prst="roundRect">
            <a:avLst>
              <a:gd name="adj" fmla="val 3878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38" id="138"/>
          <p:cNvSpPr txBox="true"/>
          <p:nvPr/>
        </p:nvSpPr>
        <p:spPr>
          <a:xfrm>
            <a:off x="6860743" y="6593459"/>
            <a:ext cx="4566056" cy="353568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buNone/>
            </a:pPr>
            <a:r>
              <a:rPr lang="en-US" b="true" sz="24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What is built</a:t>
            </a:r>
          </a:p>
        </p:txBody>
      </p:sp>
      <p:sp>
        <p:nvSpPr>
          <p:cNvPr name="Text 139" id="139"/>
          <p:cNvSpPr txBox="true"/>
          <p:nvPr/>
        </p:nvSpPr>
        <p:spPr>
          <a:xfrm>
            <a:off x="6860743" y="7166483"/>
            <a:ext cx="4566056" cy="1739773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278"/>
              </a:lnSpc>
              <a:spcBef>
                <a:spcPts val="0"/>
              </a:spcBef>
              <a:buNone/>
            </a:pPr>
            <a:r>
              <a:rPr lang="en-US" sz="1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Every capability in the idea deck runs end to end: cited answers, centroid recurrence clustering, failure debt, fix grading, pre-flight, injection quarantine, policy gate, MCP server, Obsidian write-back and the audit chain.</a:t>
            </a:r>
          </a:p>
        </p:txBody>
      </p:sp>
      <p:sp>
        <p:nvSpPr>
          <p:cNvPr name="Card 140" id="140"/>
          <p:cNvSpPr/>
          <p:nvPr/>
        </p:nvSpPr>
        <p:spPr>
          <a:xfrm>
            <a:off x="12176608" y="5952744"/>
            <a:ext cx="5334152" cy="3300984"/>
          </a:xfrm>
          <a:prstGeom prst="roundRect">
            <a:avLst>
              <a:gd name="adj" fmla="val 3878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41" id="141"/>
          <p:cNvSpPr txBox="true"/>
          <p:nvPr/>
        </p:nvSpPr>
        <p:spPr>
          <a:xfrm>
            <a:off x="12560656" y="6593459"/>
            <a:ext cx="4566056" cy="353568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783"/>
              </a:lnSpc>
              <a:spcBef>
                <a:spcPts val="0"/>
              </a:spcBef>
              <a:buNone/>
            </a:pPr>
            <a:r>
              <a:rPr lang="en-US" b="true" sz="24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Verified on the seeded corpus</a:t>
            </a:r>
          </a:p>
        </p:txBody>
      </p:sp>
      <p:sp>
        <p:nvSpPr>
          <p:cNvPr name="Text 142" id="142"/>
          <p:cNvSpPr txBox="true"/>
          <p:nvPr/>
        </p:nvSpPr>
        <p:spPr>
          <a:xfrm>
            <a:off x="12560656" y="7166483"/>
            <a:ext cx="4566056" cy="1739773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278"/>
              </a:lnSpc>
              <a:spcBef>
                <a:spcPts val="0"/>
              </a:spcBef>
              <a:buNone/>
            </a:pPr>
            <a:r>
              <a:rPr lang="en-US" sz="1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37 documents, 21 incidents: two recurrence clusters and no false positives; the near-miss sharing pg-primary is rejected. REM-31, recorded as a permanent fix, is proven ineffective. Egress: zero external connections.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688982"/>
            <a:chOff x="0" y="0"/>
            <a:chExt cx="24384000" cy="12918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918643"/>
            </a:xfrm>
            <a:custGeom>
              <a:avLst/>
              <a:gdLst/>
              <a:ahLst/>
              <a:cxnLst/>
              <a:rect r="r" b="b" t="t" l="l"/>
              <a:pathLst>
                <a:path h="129186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918643"/>
                  </a:lnTo>
                  <a:lnTo>
                    <a:pt x="0" y="12918643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76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06</a:t>
            </a:r>
          </a:p>
        </p:txBody>
      </p:sp>
      <p:sp>
        <p:nvSpPr>
          <p:cNvPr name="Text 101" id="101"/>
          <p:cNvSpPr txBox="true"/>
          <p:nvPr/>
        </p:nvSpPr>
        <p:spPr>
          <a:xfrm>
            <a:off x="777240" y="1627632"/>
            <a:ext cx="16733520" cy="7132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5618"/>
              </a:lnSpc>
              <a:spcBef>
                <a:spcPts val="0"/>
              </a:spcBef>
              <a:buNone/>
            </a:pPr>
            <a:r>
              <a:rPr lang="en-US" b="true" sz="53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What will you achieve?</a:t>
            </a:r>
          </a:p>
        </p:txBody>
      </p:sp>
      <p:sp>
        <p:nvSpPr>
          <p:cNvPr name="Text 102" id="102"/>
          <p:cNvSpPr txBox="true"/>
          <p:nvPr/>
        </p:nvSpPr>
        <p:spPr>
          <a:xfrm>
            <a:off x="777240" y="2523744"/>
            <a:ext cx="16733520" cy="51206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buNone/>
            </a:pPr>
            <a:r>
              <a:rPr lang="en-US" sz="2700">
                <a:solidFill>
                  <a:srgbClr val="C4B5FD"/>
                </a:solidFill>
                <a:latin typeface="Arimo"/>
                <a:ea typeface="Arimo"/>
                <a:cs typeface="Arimo"/>
                <a:sym typeface="Arimo"/>
              </a:rPr>
              <a:t xml:space="preserve">A system a team could run on its own hardware — and the evidence to prove it did what it claims.</a:t>
            </a:r>
          </a:p>
        </p:txBody>
      </p:sp>
      <p:sp>
        <p:nvSpPr>
          <p:cNvPr name="Card 103" id="103"/>
          <p:cNvSpPr/>
          <p:nvPr/>
        </p:nvSpPr>
        <p:spPr>
          <a:xfrm>
            <a:off x="777240" y="3273552"/>
            <a:ext cx="5334000" cy="2286000"/>
          </a:xfrm>
          <a:prstGeom prst="roundRect">
            <a:avLst>
              <a:gd name="adj" fmla="val 560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04" id="104"/>
          <p:cNvSpPr txBox="true"/>
          <p:nvPr/>
        </p:nvSpPr>
        <p:spPr>
          <a:xfrm>
            <a:off x="1161288" y="3621024"/>
            <a:ext cx="4565904" cy="76606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6032"/>
              </a:lnSpc>
              <a:spcBef>
                <a:spcPts val="0"/>
              </a:spcBef>
              <a:buNone/>
            </a:pPr>
            <a:r>
              <a:rPr lang="en-US" b="true" sz="5800">
                <a:solidFill>
                  <a:srgbClr val="34D399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</a:t>
            </a:r>
          </a:p>
        </p:txBody>
      </p:sp>
      <p:sp>
        <p:nvSpPr>
          <p:cNvPr name="Text 105" id="105"/>
          <p:cNvSpPr txBox="true"/>
          <p:nvPr/>
        </p:nvSpPr>
        <p:spPr>
          <a:xfrm>
            <a:off x="1161288" y="4551680"/>
            <a:ext cx="4565904" cy="66040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buNone/>
            </a:pPr>
            <a:r>
              <a:rPr lang="en-US" sz="18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bytes of egress, measured live across the entire demo</a:t>
            </a:r>
          </a:p>
        </p:txBody>
      </p:sp>
      <p:sp>
        <p:nvSpPr>
          <p:cNvPr name="Card 106" id="106"/>
          <p:cNvSpPr/>
          <p:nvPr/>
        </p:nvSpPr>
        <p:spPr>
          <a:xfrm>
            <a:off x="6477000" y="3273552"/>
            <a:ext cx="5334000" cy="2286000"/>
          </a:xfrm>
          <a:prstGeom prst="roundRect">
            <a:avLst>
              <a:gd name="adj" fmla="val 560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07" id="107"/>
          <p:cNvSpPr txBox="true"/>
          <p:nvPr/>
        </p:nvSpPr>
        <p:spPr>
          <a:xfrm>
            <a:off x="6861048" y="3621024"/>
            <a:ext cx="4565904" cy="76606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6032"/>
              </a:lnSpc>
              <a:spcBef>
                <a:spcPts val="0"/>
              </a:spcBef>
              <a:buNone/>
            </a:pPr>
            <a:r>
              <a:rPr lang="en-US" b="true" sz="58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100%</a:t>
            </a:r>
          </a:p>
        </p:txBody>
      </p:sp>
      <p:sp>
        <p:nvSpPr>
          <p:cNvPr name="Text 108" id="108"/>
          <p:cNvSpPr txBox="true"/>
          <p:nvPr/>
        </p:nvSpPr>
        <p:spPr>
          <a:xfrm>
            <a:off x="6861048" y="4551680"/>
            <a:ext cx="4565904" cy="66040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buNone/>
            </a:pPr>
            <a:r>
              <a:rPr lang="en-US" sz="18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of evidence-backed claims traceable to their source chunk</a:t>
            </a:r>
          </a:p>
        </p:txBody>
      </p:sp>
      <p:sp>
        <p:nvSpPr>
          <p:cNvPr name="Card 109" id="109"/>
          <p:cNvSpPr/>
          <p:nvPr/>
        </p:nvSpPr>
        <p:spPr>
          <a:xfrm>
            <a:off x="12176760" y="3273552"/>
            <a:ext cx="5334000" cy="2286000"/>
          </a:xfrm>
          <a:prstGeom prst="roundRect">
            <a:avLst>
              <a:gd name="adj" fmla="val 560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0" id="110"/>
          <p:cNvSpPr txBox="true"/>
          <p:nvPr/>
        </p:nvSpPr>
        <p:spPr>
          <a:xfrm>
            <a:off x="12560808" y="3621024"/>
            <a:ext cx="4565904" cy="76606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6032"/>
              </a:lnSpc>
              <a:spcBef>
                <a:spcPts val="0"/>
              </a:spcBef>
              <a:buNone/>
            </a:pPr>
            <a:r>
              <a:rPr lang="en-US" b="true" sz="58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&lt; 5 s</a:t>
            </a:r>
          </a:p>
        </p:txBody>
      </p:sp>
      <p:sp>
        <p:nvSpPr>
          <p:cNvPr name="Text 111" id="111"/>
          <p:cNvSpPr txBox="true"/>
          <p:nvPr/>
        </p:nvSpPr>
        <p:spPr>
          <a:xfrm>
            <a:off x="12560808" y="4551680"/>
            <a:ext cx="4565904" cy="66040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buNone/>
            </a:pPr>
            <a:r>
              <a:rPr lang="en-US" sz="18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target median interactive answer on one RTX 3050 laptop</a:t>
            </a:r>
          </a:p>
        </p:txBody>
      </p:sp>
      <p:sp>
        <p:nvSpPr>
          <p:cNvPr name="Card 112" id="112"/>
          <p:cNvSpPr/>
          <p:nvPr/>
        </p:nvSpPr>
        <p:spPr>
          <a:xfrm>
            <a:off x="777240" y="5888736"/>
            <a:ext cx="16733520" cy="1371600"/>
          </a:xfrm>
          <a:prstGeom prst="roundRect">
            <a:avLst>
              <a:gd name="adj" fmla="val 9333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13" id="113"/>
          <p:cNvSpPr txBox="true"/>
          <p:nvPr/>
        </p:nvSpPr>
        <p:spPr>
          <a:xfrm>
            <a:off x="1252728" y="6239256"/>
            <a:ext cx="15782544" cy="67056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buNone/>
            </a:pPr>
            <a:r>
              <a:rPr lang="en-US" b="true" sz="20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Expected impact  ·  </a:t>
            </a:r>
            <a:r>
              <a:rPr lang="en-US" sz="20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failure debt stops being invisible. A team can rank the causes that keep returning, see which fixes never held, and get warned before repeating one — turning incident response into organisational learning, on hardware it already owns.</a:t>
            </a:r>
          </a:p>
        </p:txBody>
      </p:sp>
      <p:sp>
        <p:nvSpPr>
          <p:cNvPr name="Text 114" id="114"/>
          <p:cNvSpPr txBox="true"/>
          <p:nvPr/>
        </p:nvSpPr>
        <p:spPr>
          <a:xfrm>
            <a:off x="777240" y="7589520"/>
            <a:ext cx="16733520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buNone/>
            </a:pPr>
            <a:r>
              <a:rPr lang="en-US" b="true" sz="1600" spc="22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DEMO OUTCOME — WHAT THE JUDGES SEE</a:t>
            </a:r>
          </a:p>
        </p:txBody>
      </p:sp>
      <p:sp>
        <p:nvSpPr>
          <p:cNvPr name="Card 115" id="115"/>
          <p:cNvSpPr/>
          <p:nvPr/>
        </p:nvSpPr>
        <p:spPr>
          <a:xfrm>
            <a:off x="777240" y="7991856"/>
            <a:ext cx="2249424" cy="1261872"/>
          </a:xfrm>
          <a:prstGeom prst="roundRect">
            <a:avLst>
              <a:gd name="adj" fmla="val 1014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6" id="116"/>
          <p:cNvSpPr txBox="true"/>
          <p:nvPr/>
        </p:nvSpPr>
        <p:spPr>
          <a:xfrm>
            <a:off x="996696" y="8193024"/>
            <a:ext cx="1810512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70"/>
              </a:lnSpc>
              <a:spcBef>
                <a:spcPts val="0"/>
              </a:spcBef>
              <a:buNone/>
            </a:pPr>
            <a:r>
              <a:rPr lang="en-US" b="true" sz="17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1</a:t>
            </a:r>
          </a:p>
        </p:txBody>
      </p:sp>
      <p:sp>
        <p:nvSpPr>
          <p:cNvPr name="Text 117" id="117"/>
          <p:cNvSpPr txBox="true"/>
          <p:nvPr/>
        </p:nvSpPr>
        <p:spPr>
          <a:xfrm>
            <a:off x="996696" y="8522208"/>
            <a:ext cx="1810512" cy="54864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Wi-Fi off,</a:t>
            </a:r>
          </a:p>
          <a:p>
            <a:pPr algn="l">
              <a:lnSpc>
                <a:spcPts val="1889"/>
              </a:lnSpc>
              <a:spcBef>
                <a:spcPts val="2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meter reads 0</a:t>
            </a:r>
          </a:p>
        </p:txBody>
      </p:sp>
      <p:sp>
        <p:nvSpPr>
          <p:cNvPr name="Card 118" id="118"/>
          <p:cNvSpPr/>
          <p:nvPr/>
        </p:nvSpPr>
        <p:spPr>
          <a:xfrm>
            <a:off x="3191256" y="7991856"/>
            <a:ext cx="2249424" cy="1261872"/>
          </a:xfrm>
          <a:prstGeom prst="roundRect">
            <a:avLst>
              <a:gd name="adj" fmla="val 1014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9" id="119"/>
          <p:cNvSpPr txBox="true"/>
          <p:nvPr/>
        </p:nvSpPr>
        <p:spPr>
          <a:xfrm>
            <a:off x="3410712" y="8193024"/>
            <a:ext cx="1810512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70"/>
              </a:lnSpc>
              <a:spcBef>
                <a:spcPts val="0"/>
              </a:spcBef>
              <a:buNone/>
            </a:pPr>
            <a:r>
              <a:rPr lang="en-US" b="true" sz="17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2</a:t>
            </a:r>
          </a:p>
        </p:txBody>
      </p:sp>
      <p:sp>
        <p:nvSpPr>
          <p:cNvPr name="Text 120" id="120"/>
          <p:cNvSpPr txBox="true"/>
          <p:nvPr/>
        </p:nvSpPr>
        <p:spPr>
          <a:xfrm>
            <a:off x="3410712" y="8522208"/>
            <a:ext cx="1810512" cy="54864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Ingest a new</a:t>
            </a:r>
          </a:p>
          <a:p>
            <a:pPr algn="l">
              <a:lnSpc>
                <a:spcPts val="1889"/>
              </a:lnSpc>
              <a:spcBef>
                <a:spcPts val="2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incident report</a:t>
            </a:r>
          </a:p>
        </p:txBody>
      </p:sp>
      <p:sp>
        <p:nvSpPr>
          <p:cNvPr name="Card 121" id="121"/>
          <p:cNvSpPr/>
          <p:nvPr/>
        </p:nvSpPr>
        <p:spPr>
          <a:xfrm>
            <a:off x="5605272" y="7991856"/>
            <a:ext cx="2249424" cy="1261872"/>
          </a:xfrm>
          <a:prstGeom prst="roundRect">
            <a:avLst>
              <a:gd name="adj" fmla="val 1014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22" id="122"/>
          <p:cNvSpPr txBox="true"/>
          <p:nvPr/>
        </p:nvSpPr>
        <p:spPr>
          <a:xfrm>
            <a:off x="5824728" y="8193024"/>
            <a:ext cx="1810512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70"/>
              </a:lnSpc>
              <a:spcBef>
                <a:spcPts val="0"/>
              </a:spcBef>
              <a:buNone/>
            </a:pPr>
            <a:r>
              <a:rPr lang="en-US" b="true" sz="17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3</a:t>
            </a:r>
          </a:p>
        </p:txBody>
      </p:sp>
      <p:sp>
        <p:nvSpPr>
          <p:cNvPr name="Text 123" id="123"/>
          <p:cNvSpPr txBox="true"/>
          <p:nvPr/>
        </p:nvSpPr>
        <p:spPr>
          <a:xfrm>
            <a:off x="5824728" y="8522208"/>
            <a:ext cx="1810512" cy="54864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It links three</a:t>
            </a:r>
          </a:p>
          <a:p>
            <a:pPr algn="l">
              <a:lnSpc>
                <a:spcPts val="1889"/>
              </a:lnSpc>
              <a:spcBef>
                <a:spcPts val="2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older incidents</a:t>
            </a:r>
          </a:p>
        </p:txBody>
      </p:sp>
      <p:sp>
        <p:nvSpPr>
          <p:cNvPr name="Card 124" id="124"/>
          <p:cNvSpPr/>
          <p:nvPr/>
        </p:nvSpPr>
        <p:spPr>
          <a:xfrm>
            <a:off x="8019288" y="7991856"/>
            <a:ext cx="2249424" cy="1261872"/>
          </a:xfrm>
          <a:prstGeom prst="roundRect">
            <a:avLst>
              <a:gd name="adj" fmla="val 1014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25" id="125"/>
          <p:cNvSpPr txBox="true"/>
          <p:nvPr/>
        </p:nvSpPr>
        <p:spPr>
          <a:xfrm>
            <a:off x="8238744" y="8193024"/>
            <a:ext cx="1810512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70"/>
              </a:lnSpc>
              <a:spcBef>
                <a:spcPts val="0"/>
              </a:spcBef>
              <a:buNone/>
            </a:pPr>
            <a:r>
              <a:rPr lang="en-US" b="true" sz="17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4</a:t>
            </a:r>
          </a:p>
        </p:txBody>
      </p:sp>
      <p:sp>
        <p:nvSpPr>
          <p:cNvPr name="Text 126" id="126"/>
          <p:cNvSpPr txBox="true"/>
          <p:nvPr/>
        </p:nvSpPr>
        <p:spPr>
          <a:xfrm>
            <a:off x="8238744" y="8522208"/>
            <a:ext cx="1810512" cy="54864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Click WHY —</a:t>
            </a:r>
          </a:p>
          <a:p>
            <a:pPr algn="l">
              <a:lnSpc>
                <a:spcPts val="1889"/>
              </a:lnSpc>
              <a:spcBef>
                <a:spcPts val="2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3 incidents, 7 chunks</a:t>
            </a:r>
          </a:p>
        </p:txBody>
      </p:sp>
      <p:sp>
        <p:nvSpPr>
          <p:cNvPr name="Card 127" id="127"/>
          <p:cNvSpPr/>
          <p:nvPr/>
        </p:nvSpPr>
        <p:spPr>
          <a:xfrm>
            <a:off x="10433304" y="7991856"/>
            <a:ext cx="2249424" cy="1261872"/>
          </a:xfrm>
          <a:prstGeom prst="roundRect">
            <a:avLst>
              <a:gd name="adj" fmla="val 1014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28" id="128"/>
          <p:cNvSpPr txBox="true"/>
          <p:nvPr/>
        </p:nvSpPr>
        <p:spPr>
          <a:xfrm>
            <a:off x="10652760" y="8193024"/>
            <a:ext cx="1810512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70"/>
              </a:lnSpc>
              <a:spcBef>
                <a:spcPts val="0"/>
              </a:spcBef>
              <a:buNone/>
            </a:pPr>
            <a:r>
              <a:rPr lang="en-US" b="true" sz="17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5</a:t>
            </a:r>
          </a:p>
        </p:txBody>
      </p:sp>
      <p:sp>
        <p:nvSpPr>
          <p:cNvPr name="Text 129" id="129"/>
          <p:cNvSpPr txBox="true"/>
          <p:nvPr/>
        </p:nvSpPr>
        <p:spPr>
          <a:xfrm>
            <a:off x="10652760" y="8522208"/>
            <a:ext cx="1810512" cy="54864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January fix</a:t>
            </a:r>
          </a:p>
          <a:p>
            <a:pPr algn="l">
              <a:lnSpc>
                <a:spcPts val="1889"/>
              </a:lnSpc>
              <a:spcBef>
                <a:spcPts val="2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marked ineffective</a:t>
            </a:r>
          </a:p>
        </p:txBody>
      </p:sp>
      <p:sp>
        <p:nvSpPr>
          <p:cNvPr name="Card 130" id="130"/>
          <p:cNvSpPr/>
          <p:nvPr/>
        </p:nvSpPr>
        <p:spPr>
          <a:xfrm>
            <a:off x="12847320" y="7991856"/>
            <a:ext cx="2249424" cy="1261872"/>
          </a:xfrm>
          <a:prstGeom prst="roundRect">
            <a:avLst>
              <a:gd name="adj" fmla="val 1014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31" id="131"/>
          <p:cNvSpPr txBox="true"/>
          <p:nvPr/>
        </p:nvSpPr>
        <p:spPr>
          <a:xfrm>
            <a:off x="13066776" y="8193024"/>
            <a:ext cx="1810512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70"/>
              </a:lnSpc>
              <a:spcBef>
                <a:spcPts val="0"/>
              </a:spcBef>
              <a:buNone/>
            </a:pPr>
            <a:r>
              <a:rPr lang="en-US" b="true" sz="17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6</a:t>
            </a:r>
          </a:p>
        </p:txBody>
      </p:sp>
      <p:sp>
        <p:nvSpPr>
          <p:cNvPr name="Text 132" id="132"/>
          <p:cNvSpPr txBox="true"/>
          <p:nvPr/>
        </p:nvSpPr>
        <p:spPr>
          <a:xfrm>
            <a:off x="13066776" y="8522208"/>
            <a:ext cx="1810512" cy="54864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Open a change,</a:t>
            </a:r>
          </a:p>
          <a:p>
            <a:pPr algn="l">
              <a:lnSpc>
                <a:spcPts val="1889"/>
              </a:lnSpc>
              <a:spcBef>
                <a:spcPts val="2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pre-flight warns</a:t>
            </a:r>
          </a:p>
        </p:txBody>
      </p:sp>
      <p:sp>
        <p:nvSpPr>
          <p:cNvPr name="Card 133" id="133"/>
          <p:cNvSpPr/>
          <p:nvPr/>
        </p:nvSpPr>
        <p:spPr>
          <a:xfrm>
            <a:off x="15261336" y="7991856"/>
            <a:ext cx="2249424" cy="1261872"/>
          </a:xfrm>
          <a:prstGeom prst="roundRect">
            <a:avLst>
              <a:gd name="adj" fmla="val 1014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34" id="134"/>
          <p:cNvSpPr txBox="true"/>
          <p:nvPr/>
        </p:nvSpPr>
        <p:spPr>
          <a:xfrm>
            <a:off x="15480792" y="8193024"/>
            <a:ext cx="1810512" cy="2560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70"/>
              </a:lnSpc>
              <a:spcBef>
                <a:spcPts val="0"/>
              </a:spcBef>
              <a:buNone/>
            </a:pPr>
            <a:r>
              <a:rPr lang="en-US" b="true" sz="1700">
                <a:solidFill>
                  <a:srgbClr val="8B5CF6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7</a:t>
            </a:r>
          </a:p>
        </p:txBody>
      </p:sp>
      <p:sp>
        <p:nvSpPr>
          <p:cNvPr name="Text 135" id="135"/>
          <p:cNvSpPr txBox="true"/>
          <p:nvPr/>
        </p:nvSpPr>
        <p:spPr>
          <a:xfrm>
            <a:off x="15480792" y="8522208"/>
            <a:ext cx="1810512" cy="54864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89"/>
              </a:lnSpc>
              <a:spcBef>
                <a:spcPts val="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Poisoned doc</a:t>
            </a:r>
          </a:p>
          <a:p>
            <a:pPr algn="l">
              <a:lnSpc>
                <a:spcPts val="1889"/>
              </a:lnSpc>
              <a:spcBef>
                <a:spcPts val="200"/>
              </a:spcBef>
              <a:buNone/>
            </a:pPr>
            <a:r>
              <a:rPr lang="en-US" sz="15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quarantined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688982"/>
            <a:chOff x="0" y="0"/>
            <a:chExt cx="24384000" cy="12918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918643"/>
            </a:xfrm>
            <a:custGeom>
              <a:avLst/>
              <a:gdLst/>
              <a:ahLst/>
              <a:cxnLst/>
              <a:rect r="r" b="b" t="t" l="l"/>
              <a:pathLst>
                <a:path h="129186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918643"/>
                  </a:lnTo>
                  <a:lnTo>
                    <a:pt x="0" y="12918643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76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07</a:t>
            </a:r>
          </a:p>
        </p:txBody>
      </p:sp>
      <p:sp>
        <p:nvSpPr>
          <p:cNvPr name="Text 101" id="101"/>
          <p:cNvSpPr txBox="true"/>
          <p:nvPr/>
        </p:nvSpPr>
        <p:spPr>
          <a:xfrm>
            <a:off x="777240" y="1627632"/>
            <a:ext cx="16733520" cy="7132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5618"/>
              </a:lnSpc>
              <a:spcBef>
                <a:spcPts val="0"/>
              </a:spcBef>
              <a:buNone/>
            </a:pPr>
            <a:r>
              <a:rPr lang="en-US" b="true" sz="53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Working prototype</a:t>
            </a:r>
          </a:p>
        </p:txBody>
      </p:sp>
      <p:sp>
        <p:nvSpPr>
          <p:cNvPr name="Text 102" id="102"/>
          <p:cNvSpPr txBox="true"/>
          <p:nvPr/>
        </p:nvSpPr>
        <p:spPr>
          <a:xfrm>
            <a:off x="777240" y="2523744"/>
            <a:ext cx="16733520" cy="51206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buNone/>
            </a:pPr>
            <a:r>
              <a:rPr lang="en-US" sz="2700">
                <a:solidFill>
                  <a:srgbClr val="C4B5FD"/>
                </a:solidFill>
                <a:latin typeface="Arimo"/>
                <a:ea typeface="Arimo"/>
                <a:cs typeface="Arimo"/>
                <a:sym typeface="Arimo"/>
              </a:rPr>
              <a:t xml:space="preserve">Screens from the running system. Captured here in fallback mode; on the RTX 3050 it runs Llama 3.2 3B.</a:t>
            </a:r>
          </a:p>
        </p:txBody>
      </p:sp>
      <p:sp>
        <p:nvSpPr>
          <p:cNvPr name="Card 103" id="103"/>
          <p:cNvSpPr/>
          <p:nvPr/>
        </p:nvSpPr>
        <p:spPr>
          <a:xfrm>
            <a:off x="996696" y="3218688"/>
            <a:ext cx="5230368" cy="2670048"/>
          </a:xfrm>
          <a:prstGeom prst="roundRect">
            <a:avLst>
              <a:gd name="adj" fmla="val 342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04" id="104"/>
          <p:cNvSpPr txBox="true"/>
          <p:nvPr/>
        </p:nvSpPr>
        <p:spPr>
          <a:xfrm>
            <a:off x="1051560" y="5943600"/>
            <a:ext cx="5120640" cy="27432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buNone/>
            </a:pPr>
            <a:r>
              <a:rPr lang="en-US" b="true" sz="15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A new incident links itself: block → rank → judge</a:t>
            </a:r>
          </a:p>
        </p:txBody>
      </p:sp>
      <p:sp>
        <p:nvSpPr>
          <p:cNvPr name="Card 105" id="105"/>
          <p:cNvSpPr/>
          <p:nvPr/>
        </p:nvSpPr>
        <p:spPr>
          <a:xfrm>
            <a:off x="6528816" y="3218688"/>
            <a:ext cx="5230368" cy="2670048"/>
          </a:xfrm>
          <a:prstGeom prst="roundRect">
            <a:avLst>
              <a:gd name="adj" fmla="val 342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06" id="106"/>
          <p:cNvSpPr txBox="true"/>
          <p:nvPr/>
        </p:nvSpPr>
        <p:spPr>
          <a:xfrm>
            <a:off x="6583680" y="5943600"/>
            <a:ext cx="5120640" cy="27432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buNone/>
            </a:pPr>
            <a:r>
              <a:rPr lang="en-US" b="true" sz="15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WHY THIS? — every link is inspectable</a:t>
            </a:r>
          </a:p>
        </p:txBody>
      </p:sp>
      <p:sp>
        <p:nvSpPr>
          <p:cNvPr name="Card 107" id="107"/>
          <p:cNvSpPr/>
          <p:nvPr/>
        </p:nvSpPr>
        <p:spPr>
          <a:xfrm>
            <a:off x="12060936" y="3218688"/>
            <a:ext cx="5230368" cy="2670048"/>
          </a:xfrm>
          <a:prstGeom prst="roundRect">
            <a:avLst>
              <a:gd name="adj" fmla="val 342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08" id="108"/>
          <p:cNvSpPr txBox="true"/>
          <p:nvPr/>
        </p:nvSpPr>
        <p:spPr>
          <a:xfrm>
            <a:off x="12115800" y="5943600"/>
            <a:ext cx="5120640" cy="27432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buNone/>
            </a:pPr>
            <a:r>
              <a:rPr lang="en-US" b="true" sz="15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Failure debt and graded predictions</a:t>
            </a:r>
          </a:p>
        </p:txBody>
      </p:sp>
      <p:sp>
        <p:nvSpPr>
          <p:cNvPr name="Card 109" id="109"/>
          <p:cNvSpPr/>
          <p:nvPr/>
        </p:nvSpPr>
        <p:spPr>
          <a:xfrm>
            <a:off x="996696" y="6309360"/>
            <a:ext cx="5230368" cy="2670048"/>
          </a:xfrm>
          <a:prstGeom prst="roundRect">
            <a:avLst>
              <a:gd name="adj" fmla="val 342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0" id="110"/>
          <p:cNvSpPr txBox="true"/>
          <p:nvPr/>
        </p:nvSpPr>
        <p:spPr>
          <a:xfrm>
            <a:off x="1051560" y="9034272"/>
            <a:ext cx="5120640" cy="27432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buNone/>
            </a:pPr>
            <a:r>
              <a:rPr lang="en-US" b="true" sz="15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Pre-flight warning before the change ships</a:t>
            </a:r>
          </a:p>
        </p:txBody>
      </p:sp>
      <p:sp>
        <p:nvSpPr>
          <p:cNvPr name="Card 111" id="111"/>
          <p:cNvSpPr/>
          <p:nvPr/>
        </p:nvSpPr>
        <p:spPr>
          <a:xfrm>
            <a:off x="6528816" y="6309360"/>
            <a:ext cx="5230368" cy="2670048"/>
          </a:xfrm>
          <a:prstGeom prst="roundRect">
            <a:avLst>
              <a:gd name="adj" fmla="val 342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2" id="112"/>
          <p:cNvSpPr txBox="true"/>
          <p:nvPr/>
        </p:nvSpPr>
        <p:spPr>
          <a:xfrm>
            <a:off x="6583680" y="9034272"/>
            <a:ext cx="5120640" cy="27432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buNone/>
            </a:pPr>
            <a:r>
              <a:rPr lang="en-US" b="true" sz="15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Poisoned document quarantined</a:t>
            </a:r>
          </a:p>
        </p:txBody>
      </p:sp>
      <p:sp>
        <p:nvSpPr>
          <p:cNvPr name="Card 113" id="113"/>
          <p:cNvSpPr/>
          <p:nvPr/>
        </p:nvSpPr>
        <p:spPr>
          <a:xfrm>
            <a:off x="12060936" y="6309360"/>
            <a:ext cx="5230368" cy="2670048"/>
          </a:xfrm>
          <a:prstGeom prst="roundRect">
            <a:avLst>
              <a:gd name="adj" fmla="val 3424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Text 114" id="114"/>
          <p:cNvSpPr txBox="true"/>
          <p:nvPr/>
        </p:nvSpPr>
        <p:spPr>
          <a:xfrm>
            <a:off x="12115800" y="9034272"/>
            <a:ext cx="5120640" cy="274320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buNone/>
            </a:pPr>
            <a:r>
              <a:rPr lang="en-US" b="true" sz="1500">
                <a:solidFill>
                  <a:srgbClr val="D7E3F2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A tampered ledger entry is detected</a:t>
            </a:r>
          </a:p>
        </p:txBody>
      </p:sp>
      <p:pic>
        <p:nvPicPr>
          <p:cNvPr id="115" name="Picture 114" descr="02-live-ingest-links-cluster.png"/>
          <p:cNvPicPr>
            <a:picLocks noChangeAspect="1"/>
          </p:cNvPicPr>
          <p:nvPr/>
        </p:nvPicPr>
        <p:blipFill>
          <a:blip r:embed="rId6"/>
          <a:srcRect b="20000"/>
          <a:stretch>
            <a:fillRect/>
          </a:stretch>
        </p:blipFill>
        <p:spPr>
          <a:xfrm>
            <a:off x="1051560" y="3273552"/>
            <a:ext cx="5120640" cy="2560320"/>
          </a:xfrm>
          <a:prstGeom prst="rect">
            <a:avLst/>
          </a:prstGeom>
        </p:spPr>
      </p:pic>
      <p:pic>
        <p:nvPicPr>
          <p:cNvPr id="116" name="Picture 115" descr="03-why-this-evidence.png"/>
          <p:cNvPicPr>
            <a:picLocks noChangeAspect="1"/>
          </p:cNvPicPr>
          <p:nvPr/>
        </p:nvPicPr>
        <p:blipFill>
          <a:blip r:embed="rId7"/>
          <a:srcRect b="20000"/>
          <a:stretch>
            <a:fillRect/>
          </a:stretch>
        </p:blipFill>
        <p:spPr>
          <a:xfrm>
            <a:off x="6583680" y="3273552"/>
            <a:ext cx="5120640" cy="2560320"/>
          </a:xfrm>
          <a:prstGeom prst="rect">
            <a:avLst/>
          </a:prstGeom>
        </p:spPr>
      </p:pic>
      <p:pic>
        <p:nvPicPr>
          <p:cNvPr id="117" name="Picture 116" descr="05-failure-debt-and-predictions.png"/>
          <p:cNvPicPr>
            <a:picLocks noChangeAspect="1"/>
          </p:cNvPicPr>
          <p:nvPr/>
        </p:nvPicPr>
        <p:blipFill>
          <a:blip r:embed="rId8"/>
          <a:srcRect b="20000"/>
          <a:stretch>
            <a:fillRect/>
          </a:stretch>
        </p:blipFill>
        <p:spPr>
          <a:xfrm>
            <a:off x="12115800" y="3273552"/>
            <a:ext cx="5120640" cy="2560320"/>
          </a:xfrm>
          <a:prstGeom prst="rect">
            <a:avLst/>
          </a:prstGeom>
        </p:spPr>
      </p:pic>
      <p:pic>
        <p:nvPicPr>
          <p:cNvPr id="118" name="Picture 117" descr="06-preflight-warning.png"/>
          <p:cNvPicPr>
            <a:picLocks noChangeAspect="1"/>
          </p:cNvPicPr>
          <p:nvPr/>
        </p:nvPicPr>
        <p:blipFill>
          <a:blip r:embed="rId9"/>
          <a:srcRect b="20000"/>
          <a:stretch>
            <a:fillRect/>
          </a:stretch>
        </p:blipFill>
        <p:spPr>
          <a:xfrm>
            <a:off x="1051560" y="6364224"/>
            <a:ext cx="5120640" cy="2560320"/>
          </a:xfrm>
          <a:prstGeom prst="rect">
            <a:avLst/>
          </a:prstGeom>
        </p:spPr>
      </p:pic>
      <p:pic>
        <p:nvPicPr>
          <p:cNvPr id="119" name="Picture 118" descr="07-prompt-injection-quarantined.png"/>
          <p:cNvPicPr>
            <a:picLocks noChangeAspect="1"/>
          </p:cNvPicPr>
          <p:nvPr/>
        </p:nvPicPr>
        <p:blipFill>
          <a:blip r:embed="rId10"/>
          <a:srcRect b="20000"/>
          <a:stretch>
            <a:fillRect/>
          </a:stretch>
        </p:blipFill>
        <p:spPr>
          <a:xfrm>
            <a:off x="6583680" y="6364224"/>
            <a:ext cx="5120640" cy="2560320"/>
          </a:xfrm>
          <a:prstGeom prst="rect">
            <a:avLst/>
          </a:prstGeom>
        </p:spPr>
      </p:pic>
      <p:pic>
        <p:nvPicPr>
          <p:cNvPr id="120" name="Picture 119" descr="10-audit-tamper-detected.png"/>
          <p:cNvPicPr>
            <a:picLocks noChangeAspect="1"/>
          </p:cNvPicPr>
          <p:nvPr/>
        </p:nvPicPr>
        <p:blipFill>
          <a:blip r:embed="rId11"/>
          <a:srcRect b="20000"/>
          <a:stretch>
            <a:fillRect/>
          </a:stretch>
        </p:blipFill>
        <p:spPr>
          <a:xfrm>
            <a:off x="12115800" y="6364224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688982"/>
            <a:chOff x="0" y="0"/>
            <a:chExt cx="24384000" cy="12918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2918643"/>
            </a:xfrm>
            <a:custGeom>
              <a:avLst/>
              <a:gdLst/>
              <a:ahLst/>
              <a:cxnLst/>
              <a:rect r="r" b="b" t="t" l="l"/>
              <a:pathLst>
                <a:path h="1291864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918643"/>
                  </a:lnTo>
                  <a:lnTo>
                    <a:pt x="0" y="12918643"/>
                  </a:lnTo>
                  <a:close/>
                </a:path>
              </a:pathLst>
            </a:custGeom>
            <a:solidFill>
              <a:srgbClr val="05081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476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82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28867"/>
            <a:ext cx="18288000" cy="758133"/>
            <a:chOff x="0" y="0"/>
            <a:chExt cx="24384000" cy="1010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1010793"/>
            </a:xfrm>
            <a:custGeom>
              <a:avLst/>
              <a:gdLst/>
              <a:ahLst/>
              <a:cxnLst/>
              <a:rect r="r" b="b" t="t" l="l"/>
              <a:pathLst>
                <a:path h="101079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10793"/>
                  </a:lnTo>
                  <a:lnTo>
                    <a:pt x="0" y="1010793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43783" y="180823"/>
            <a:ext cx="1203122" cy="992686"/>
            <a:chOff x="0" y="0"/>
            <a:chExt cx="1604162" cy="132358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4137" cy="1323594"/>
            </a:xfrm>
            <a:custGeom>
              <a:avLst/>
              <a:gdLst/>
              <a:ahLst/>
              <a:cxnLst/>
              <a:rect r="r" b="b" t="t" l="l"/>
              <a:pathLst>
                <a:path h="1323594" w="1604137">
                  <a:moveTo>
                    <a:pt x="0" y="0"/>
                  </a:moveTo>
                  <a:lnTo>
                    <a:pt x="1604137" y="0"/>
                  </a:lnTo>
                  <a:lnTo>
                    <a:pt x="1604137" y="1323594"/>
                  </a:lnTo>
                  <a:lnTo>
                    <a:pt x="0" y="1323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62719" y="150914"/>
            <a:ext cx="754409" cy="1052665"/>
            <a:chOff x="0" y="0"/>
            <a:chExt cx="1005878" cy="14035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05840" cy="1403604"/>
            </a:xfrm>
            <a:custGeom>
              <a:avLst/>
              <a:gdLst/>
              <a:ahLst/>
              <a:cxnLst/>
              <a:rect r="r" b="b" t="t" l="l"/>
              <a:pathLst>
                <a:path h="1403604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403604"/>
                  </a:lnTo>
                  <a:lnTo>
                    <a:pt x="0" y="1403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847666" y="150914"/>
            <a:ext cx="1007859" cy="1007859"/>
            <a:chOff x="0" y="0"/>
            <a:chExt cx="1343812" cy="13438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47057" y="150914"/>
            <a:ext cx="1007859" cy="1007859"/>
            <a:chOff x="0" y="0"/>
            <a:chExt cx="1343812" cy="134381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787" cy="1343787"/>
            </a:xfrm>
            <a:custGeom>
              <a:avLst/>
              <a:gdLst/>
              <a:ahLst/>
              <a:cxnLst/>
              <a:rect r="r" b="b" t="t" l="l"/>
              <a:pathLst>
                <a:path h="1343787" w="1343787">
                  <a:moveTo>
                    <a:pt x="0" y="0"/>
                  </a:moveTo>
                  <a:lnTo>
                    <a:pt x="1343787" y="0"/>
                  </a:lnTo>
                  <a:lnTo>
                    <a:pt x="1343787" y="1343787"/>
                  </a:lnTo>
                  <a:lnTo>
                    <a:pt x="0" y="1343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833527" y="343929"/>
            <a:ext cx="11042552" cy="92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b="true" sz="45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ASYNC 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06799" y="9677171"/>
            <a:ext cx="46624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08</a:t>
            </a:r>
          </a:p>
        </p:txBody>
      </p:sp>
      <p:sp>
        <p:nvSpPr>
          <p:cNvPr name="Text 101" id="101"/>
          <p:cNvSpPr txBox="true"/>
          <p:nvPr/>
        </p:nvSpPr>
        <p:spPr>
          <a:xfrm>
            <a:off x="777240" y="1627632"/>
            <a:ext cx="16733520" cy="71323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5618"/>
              </a:lnSpc>
              <a:spcBef>
                <a:spcPts val="0"/>
              </a:spcBef>
              <a:buNone/>
            </a:pPr>
            <a:r>
              <a:rPr lang="en-US" b="true" sz="53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Project status</a:t>
            </a:r>
          </a:p>
        </p:txBody>
      </p:sp>
      <p:sp>
        <p:nvSpPr>
          <p:cNvPr name="Text 102" id="102"/>
          <p:cNvSpPr txBox="true"/>
          <p:nvPr/>
        </p:nvSpPr>
        <p:spPr>
          <a:xfrm>
            <a:off x="777240" y="2523744"/>
            <a:ext cx="16733520" cy="51206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buNone/>
            </a:pPr>
            <a:r>
              <a:rPr lang="en-US" sz="2700">
                <a:solidFill>
                  <a:srgbClr val="C4B5FD"/>
                </a:solidFill>
                <a:latin typeface="Arimo"/>
                <a:ea typeface="Arimo"/>
                <a:cs typeface="Arimo"/>
                <a:sym typeface="Arimo"/>
              </a:rPr>
              <a:t xml:space="preserve">Stage: working prototype. Every capability in the idea deck runs and is tested.</a:t>
            </a:r>
          </a:p>
        </p:txBody>
      </p:sp>
      <p:sp>
        <p:nvSpPr>
          <p:cNvPr name="Card 103" id="103"/>
          <p:cNvSpPr/>
          <p:nvPr/>
        </p:nvSpPr>
        <p:spPr>
          <a:xfrm>
            <a:off x="777240" y="3273552"/>
            <a:ext cx="5334000" cy="4224528"/>
          </a:xfrm>
          <a:prstGeom prst="roundRect">
            <a:avLst>
              <a:gd name="adj" fmla="val 303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04" id="104"/>
          <p:cNvSpPr/>
          <p:nvPr/>
        </p:nvSpPr>
        <p:spPr>
          <a:xfrm>
            <a:off x="1161288" y="3853688"/>
            <a:ext cx="530352" cy="530352"/>
          </a:xfrm>
          <a:prstGeom prst="ellipse">
            <a:avLst/>
          </a:prstGeom>
          <a:solidFill>
            <a:srgbClr val="34D399"/>
          </a:solidFill>
        </p:spPr>
        <p:txBody>
          <a:bodyPr/>
          <a:lstStyle/>
          <a:p/>
        </p:txBody>
      </p:sp>
      <p:sp>
        <p:nvSpPr>
          <p:cNvPr name="Text 105" id="105"/>
          <p:cNvSpPr txBox="true"/>
          <p:nvPr/>
        </p:nvSpPr>
        <p:spPr>
          <a:xfrm>
            <a:off x="1161288" y="3970365"/>
            <a:ext cx="530352" cy="318211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01</a:t>
            </a:r>
          </a:p>
        </p:txBody>
      </p:sp>
      <p:sp>
        <p:nvSpPr>
          <p:cNvPr name="Text 106" id="106"/>
          <p:cNvSpPr txBox="true"/>
          <p:nvPr/>
        </p:nvSpPr>
        <p:spPr>
          <a:xfrm>
            <a:off x="1892808" y="3956812"/>
            <a:ext cx="3834384" cy="3241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buNone/>
            </a:pPr>
            <a:r>
              <a:rPr lang="en-US" b="true" sz="22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Done</a:t>
            </a:r>
          </a:p>
        </p:txBody>
      </p:sp>
      <p:sp>
        <p:nvSpPr>
          <p:cNvPr name="Text 107" id="107"/>
          <p:cNvSpPr txBox="true"/>
          <p:nvPr/>
        </p:nvSpPr>
        <p:spPr>
          <a:xfrm>
            <a:off x="1161288" y="4603496"/>
            <a:ext cx="4565904" cy="254711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278"/>
              </a:lnSpc>
              <a:spcBef>
                <a:spcPts val="0"/>
              </a:spcBef>
              <a:buNone/>
            </a:pPr>
            <a:r>
              <a:rPr lang="en-US" sz="1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Vault ingestion with a live watcher · hybrid retrieval with citations · centroid recurrence clustering · WHY evidence view · fix effectiveness · falsifiable predictions · failure debt · pre-flight check · injection quarantine · policy gate + MCP · Obsidian write-back · hash-chained audit · egress monitor · offline fallback.</a:t>
            </a:r>
          </a:p>
        </p:txBody>
      </p:sp>
      <p:sp>
        <p:nvSpPr>
          <p:cNvPr name="Card 108" id="108"/>
          <p:cNvSpPr/>
          <p:nvPr/>
        </p:nvSpPr>
        <p:spPr>
          <a:xfrm>
            <a:off x="6477000" y="3273552"/>
            <a:ext cx="5334000" cy="4224528"/>
          </a:xfrm>
          <a:prstGeom prst="roundRect">
            <a:avLst>
              <a:gd name="adj" fmla="val 303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09" id="109"/>
          <p:cNvSpPr/>
          <p:nvPr/>
        </p:nvSpPr>
        <p:spPr>
          <a:xfrm>
            <a:off x="6861048" y="3853688"/>
            <a:ext cx="530352" cy="530352"/>
          </a:xfrm>
          <a:prstGeom prst="ellipse">
            <a:avLst/>
          </a:prstGeom>
          <a:solidFill>
            <a:srgbClr val="FBBF24"/>
          </a:solidFill>
        </p:spPr>
        <p:txBody>
          <a:bodyPr/>
          <a:lstStyle/>
          <a:p/>
        </p:txBody>
      </p:sp>
      <p:sp>
        <p:nvSpPr>
          <p:cNvPr name="Text 110" id="110"/>
          <p:cNvSpPr txBox="true"/>
          <p:nvPr/>
        </p:nvSpPr>
        <p:spPr>
          <a:xfrm>
            <a:off x="6861048" y="3970365"/>
            <a:ext cx="530352" cy="318211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111827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02</a:t>
            </a:r>
          </a:p>
        </p:txBody>
      </p:sp>
      <p:sp>
        <p:nvSpPr>
          <p:cNvPr name="Text 111" id="111"/>
          <p:cNvSpPr txBox="true"/>
          <p:nvPr/>
        </p:nvSpPr>
        <p:spPr>
          <a:xfrm>
            <a:off x="7592568" y="3956812"/>
            <a:ext cx="3834384" cy="3241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buNone/>
            </a:pPr>
            <a:r>
              <a:rPr lang="en-US" b="true" sz="22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Changed, and why</a:t>
            </a:r>
          </a:p>
        </p:txBody>
      </p:sp>
      <p:sp>
        <p:nvSpPr>
          <p:cNvPr name="Text 112" id="112"/>
          <p:cNvSpPr txBox="true"/>
          <p:nvPr/>
        </p:nvSpPr>
        <p:spPr>
          <a:xfrm>
            <a:off x="6861048" y="4603496"/>
            <a:ext cx="4565904" cy="254711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278"/>
              </a:lnSpc>
              <a:spcBef>
                <a:spcPts val="0"/>
              </a:spcBef>
              <a:buNone/>
            </a:pPr>
            <a:r>
              <a:rPr lang="en-US" sz="1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PostgreSQL + pgvector became SQLite + FTS5 with the same schema: zero install on Windows. Next.js became one page served by FastAPI: no Node toolchain to carry offline. bge-small became nomic-embed-text via Ollama: no 2 GB PyTorch. The reranker was cut.</a:t>
            </a:r>
          </a:p>
        </p:txBody>
      </p:sp>
      <p:sp>
        <p:nvSpPr>
          <p:cNvPr name="Card 113" id="113"/>
          <p:cNvSpPr/>
          <p:nvPr/>
        </p:nvSpPr>
        <p:spPr>
          <a:xfrm>
            <a:off x="12176760" y="3273552"/>
            <a:ext cx="5334000" cy="4224528"/>
          </a:xfrm>
          <a:prstGeom prst="roundRect">
            <a:avLst>
              <a:gd name="adj" fmla="val 3030"/>
            </a:avLst>
          </a:prstGeom>
          <a:solidFill>
            <a:srgbClr val="1B2437"/>
          </a:solidFill>
        </p:spPr>
        <p:txBody>
          <a:bodyPr/>
          <a:lstStyle/>
          <a:p/>
        </p:txBody>
      </p:sp>
      <p:sp>
        <p:nvSpPr>
          <p:cNvPr name="Dot 114" id="114"/>
          <p:cNvSpPr/>
          <p:nvPr/>
        </p:nvSpPr>
        <p:spPr>
          <a:xfrm>
            <a:off x="12560808" y="3853688"/>
            <a:ext cx="530352" cy="530352"/>
          </a:xfrm>
          <a:prstGeom prst="ellipse">
            <a:avLst/>
          </a:prstGeom>
          <a:solidFill>
            <a:srgbClr val="8B5CF6"/>
          </a:solidFill>
        </p:spPr>
        <p:txBody>
          <a:bodyPr/>
          <a:lstStyle/>
          <a:p/>
        </p:txBody>
      </p:sp>
      <p:sp>
        <p:nvSpPr>
          <p:cNvPr name="Text 115" id="115"/>
          <p:cNvSpPr txBox="true"/>
          <p:nvPr/>
        </p:nvSpPr>
        <p:spPr>
          <a:xfrm>
            <a:off x="12560808" y="3970365"/>
            <a:ext cx="530352" cy="318211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ctr">
              <a:lnSpc>
                <a:spcPts val="1900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03</a:t>
            </a:r>
          </a:p>
        </p:txBody>
      </p:sp>
      <p:sp>
        <p:nvSpPr>
          <p:cNvPr name="Text 116" id="116"/>
          <p:cNvSpPr txBox="true"/>
          <p:nvPr/>
        </p:nvSpPr>
        <p:spPr>
          <a:xfrm>
            <a:off x="13292328" y="3956812"/>
            <a:ext cx="3834384" cy="324104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552"/>
              </a:lnSpc>
              <a:spcBef>
                <a:spcPts val="0"/>
              </a:spcBef>
              <a:buNone/>
            </a:pPr>
            <a:r>
              <a:rPr lang="en-US" b="true" sz="2200">
                <a:solidFill>
                  <a:srgbClr val="F4F7FF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Next: 30 Sept – 1 Oct</a:t>
            </a:r>
          </a:p>
        </p:txBody>
      </p:sp>
      <p:sp>
        <p:nvSpPr>
          <p:cNvPr name="Text 117" id="117"/>
          <p:cNvSpPr txBox="true"/>
          <p:nvPr/>
        </p:nvSpPr>
        <p:spPr>
          <a:xfrm>
            <a:off x="12560808" y="4603496"/>
            <a:ext cx="4565904" cy="2547112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278"/>
              </a:lnSpc>
              <a:spcBef>
                <a:spcPts val="0"/>
              </a:spcBef>
              <a:buNone/>
            </a:pPr>
            <a:r>
              <a:rPr lang="en-US" sz="17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Tune thresholds on the RTX 3050 with Llama 3.2 3B · measure the &lt; 5 s answer target · model-swap demo, Llama ↔ Qwen on the same memory · PostgreSQL + pgvector behind the same interface · Jira and ServiceNow connectors after the hackathon.</a:t>
            </a:r>
          </a:p>
        </p:txBody>
      </p:sp>
      <p:sp>
        <p:nvSpPr>
          <p:cNvPr name="Card 118" id="118"/>
          <p:cNvSpPr/>
          <p:nvPr/>
        </p:nvSpPr>
        <p:spPr>
          <a:xfrm>
            <a:off x="777240" y="7863840"/>
            <a:ext cx="16733520" cy="1389888"/>
          </a:xfrm>
          <a:prstGeom prst="roundRect">
            <a:avLst>
              <a:gd name="adj" fmla="val 9210"/>
            </a:avLst>
          </a:prstGeom>
          <a:solidFill>
            <a:srgbClr val="161F31"/>
          </a:solidFill>
        </p:spPr>
        <p:txBody>
          <a:bodyPr/>
          <a:lstStyle/>
          <a:p/>
        </p:txBody>
      </p:sp>
      <p:sp>
        <p:nvSpPr>
          <p:cNvPr name="Text 119" id="119"/>
          <p:cNvSpPr txBox="true"/>
          <p:nvPr/>
        </p:nvSpPr>
        <p:spPr>
          <a:xfrm>
            <a:off x="1252728" y="8399526"/>
            <a:ext cx="15782544" cy="318516"/>
          </a:xfrm>
          <a:prstGeom prst="rect">
            <a:avLst/>
          </a:prstGeom>
          <a:noFill/>
        </p:spPr>
        <p:txBody>
          <a:bodyPr anchor="t" wrap="square" rtlCol="false" tIns="0" lIns="0" bIns="0" rIns="0">
            <a:noAutofit/>
          </a:bodyPr>
          <a:lstStyle/>
          <a:p>
            <a:pPr algn="l">
              <a:lnSpc>
                <a:spcPts val="2508"/>
              </a:lnSpc>
              <a:spcBef>
                <a:spcPts val="0"/>
              </a:spcBef>
              <a:buNone/>
            </a:pPr>
            <a:r>
              <a:rPr lang="en-US" b="true" sz="1900">
                <a:solidFill>
                  <a:srgbClr val="C4B5FD"/>
                </a:solidFill>
                <a:latin typeface="Arimo Bold"/>
                <a:ea typeface="Arimo Bold"/>
                <a:cs typeface="Arimo Bold"/>
                <a:sym typeface="Arimo Bold"/>
              </a:rPr>
              <a:t xml:space="preserve">Code  ·  </a:t>
            </a:r>
            <a:r>
              <a:rPr lang="en-US" sz="1900">
                <a:solidFill>
                  <a:srgbClr val="D7E3F2"/>
                </a:solidFill>
                <a:latin typeface="Arimo"/>
                <a:ea typeface="Arimo"/>
                <a:cs typeface="Arimo"/>
                <a:sym typeface="Arimo"/>
              </a:rPr>
              <a:t xml:space="preserve">github.com/BradCage-afk/root-cause   ·   setup.bat → run.bat on Windows   ·   python -m pytest runs 13 end-to-end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